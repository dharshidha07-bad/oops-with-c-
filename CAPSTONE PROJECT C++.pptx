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2192000" cy="6858000"/>
  <p:notesSz cx="6858000" cy="9144000"/>
  <p:embeddedFontLst>
    <p:embeddedFont>
      <p:font typeface="Montserrat Bold" charset="1" panose="00000600000000000000"/>
      <p:regular r:id="rId27"/>
    </p:embeddedFont>
    <p:embeddedFont>
      <p:font typeface="IBM Plex Sans Condensed Italics" charset="1" panose="020B0506050203000203"/>
      <p:regular r:id="rId28"/>
    </p:embeddedFont>
    <p:embeddedFont>
      <p:font typeface="IBM Plex Sans Condensed" charset="1" panose="020B0506050203000203"/>
      <p:regular r:id="rId29"/>
    </p:embeddedFont>
    <p:embeddedFont>
      <p:font typeface="Carlito Bold" charset="1" panose="020F05020202040302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2" Target="../media/image1.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9.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svg" Type="http://schemas.openxmlformats.org/officeDocument/2006/relationships/image"/><Relationship Id="rId11" Target="../media/image35.png" Type="http://schemas.openxmlformats.org/officeDocument/2006/relationships/image"/><Relationship Id="rId12" Target="../media/image36.svg" Type="http://schemas.openxmlformats.org/officeDocument/2006/relationships/image"/><Relationship Id="rId2" Target="../media/image1.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3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43.png" Type="http://schemas.openxmlformats.org/officeDocument/2006/relationships/image"/><Relationship Id="rId12" Target="../media/image44.svg" Type="http://schemas.openxmlformats.org/officeDocument/2006/relationships/image"/><Relationship Id="rId2" Target="../media/image1.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41.png" Type="http://schemas.openxmlformats.org/officeDocument/2006/relationships/image"/><Relationship Id="rId8" Target="../media/image42.svg" Type="http://schemas.openxmlformats.org/officeDocument/2006/relationships/image"/><Relationship Id="rId9"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7.png" Type="http://schemas.openxmlformats.org/officeDocument/2006/relationships/image"/><Relationship Id="rId4" Target="../media/image48.svg" Type="http://schemas.openxmlformats.org/officeDocument/2006/relationships/image"/><Relationship Id="rId5" Target="../media/image49.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 Id="rId4" Target="../media/image52.svg" Type="http://schemas.openxmlformats.org/officeDocument/2006/relationships/image"/><Relationship Id="rId5"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7200" y="456848"/>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439836" y="456848"/>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753966" y="4077529"/>
            <a:ext cx="5073748" cy="2010527"/>
          </a:xfrm>
          <a:custGeom>
            <a:avLst/>
            <a:gdLst/>
            <a:ahLst/>
            <a:cxnLst/>
            <a:rect r="r" b="b" t="t" l="l"/>
            <a:pathLst>
              <a:path h="2010527" w="5073748">
                <a:moveTo>
                  <a:pt x="0" y="0"/>
                </a:moveTo>
                <a:lnTo>
                  <a:pt x="5073748" y="0"/>
                </a:lnTo>
                <a:lnTo>
                  <a:pt x="5073748" y="2010527"/>
                </a:lnTo>
                <a:lnTo>
                  <a:pt x="0" y="20105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85800" y="1090984"/>
            <a:ext cx="10817276" cy="12954"/>
          </a:xfrm>
          <a:custGeom>
            <a:avLst/>
            <a:gdLst/>
            <a:ahLst/>
            <a:cxnLst/>
            <a:rect r="r" b="b" t="t" l="l"/>
            <a:pathLst>
              <a:path h="12954" w="10817276">
                <a:moveTo>
                  <a:pt x="0" y="0"/>
                </a:moveTo>
                <a:lnTo>
                  <a:pt x="10817276" y="0"/>
                </a:lnTo>
                <a:lnTo>
                  <a:pt x="10817276" y="12954"/>
                </a:lnTo>
                <a:lnTo>
                  <a:pt x="0" y="1295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6429327" y="4021531"/>
            <a:ext cx="5073748" cy="2010527"/>
          </a:xfrm>
          <a:custGeom>
            <a:avLst/>
            <a:gdLst/>
            <a:ahLst/>
            <a:cxnLst/>
            <a:rect r="r" b="b" t="t" l="l"/>
            <a:pathLst>
              <a:path h="2010527" w="5073748">
                <a:moveTo>
                  <a:pt x="0" y="0"/>
                </a:moveTo>
                <a:lnTo>
                  <a:pt x="5073749" y="0"/>
                </a:lnTo>
                <a:lnTo>
                  <a:pt x="5073749" y="2010528"/>
                </a:lnTo>
                <a:lnTo>
                  <a:pt x="0" y="2010528"/>
                </a:lnTo>
                <a:lnTo>
                  <a:pt x="0" y="0"/>
                </a:lnTo>
                <a:close/>
              </a:path>
            </a:pathLst>
          </a:custGeom>
          <a:blipFill>
            <a:blip r:embed="rId3">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1819096" y="1739195"/>
            <a:ext cx="8553808" cy="862310"/>
          </a:xfrm>
          <a:prstGeom prst="rect">
            <a:avLst/>
          </a:prstGeom>
        </p:spPr>
        <p:txBody>
          <a:bodyPr anchor="t" rtlCol="false" tIns="0" lIns="0" bIns="0" rIns="0">
            <a:spAutoFit/>
          </a:bodyPr>
          <a:lstStyle/>
          <a:p>
            <a:pPr algn="ctr">
              <a:lnSpc>
                <a:spcPts val="3484"/>
              </a:lnSpc>
            </a:pPr>
            <a:r>
              <a:rPr lang="en-US" b="true" sz="2903" spc="-17">
                <a:solidFill>
                  <a:srgbClr val="262626"/>
                </a:solidFill>
                <a:latin typeface="Montserrat Bold"/>
                <a:ea typeface="Montserrat Bold"/>
                <a:cs typeface="Montserrat Bold"/>
                <a:sym typeface="Montserrat Bold"/>
              </a:rPr>
              <a:t>Industrial Employee Safety and Occupational Health Management System</a:t>
            </a:r>
          </a:p>
        </p:txBody>
      </p:sp>
      <p:sp>
        <p:nvSpPr>
          <p:cNvPr name="TextBox 10" id="10"/>
          <p:cNvSpPr txBox="true"/>
          <p:nvPr/>
        </p:nvSpPr>
        <p:spPr>
          <a:xfrm rot="0">
            <a:off x="3261693" y="3770395"/>
            <a:ext cx="58293" cy="307134"/>
          </a:xfrm>
          <a:prstGeom prst="rect">
            <a:avLst/>
          </a:prstGeom>
        </p:spPr>
        <p:txBody>
          <a:bodyPr anchor="t" rtlCol="false" tIns="0" lIns="0" bIns="0" rIns="0">
            <a:spAutoFit/>
          </a:bodyPr>
          <a:lstStyle/>
          <a:p>
            <a:pPr algn="l">
              <a:lnSpc>
                <a:spcPts val="2520"/>
              </a:lnSpc>
            </a:pPr>
            <a:r>
              <a:rPr lang="en-US" sz="1800" i="true" spc="3">
                <a:solidFill>
                  <a:srgbClr val="E8720C"/>
                </a:solidFill>
                <a:latin typeface="IBM Plex Sans Condensed Italics"/>
                <a:ea typeface="IBM Plex Sans Condensed Italics"/>
                <a:cs typeface="IBM Plex Sans Condensed Italics"/>
                <a:sym typeface="IBM Plex Sans Condensed Italics"/>
              </a:rPr>
              <a:t> </a:t>
            </a:r>
          </a:p>
        </p:txBody>
      </p:sp>
      <p:sp>
        <p:nvSpPr>
          <p:cNvPr name="TextBox 11" id="11"/>
          <p:cNvSpPr txBox="true"/>
          <p:nvPr/>
        </p:nvSpPr>
        <p:spPr>
          <a:xfrm rot="0">
            <a:off x="2532207" y="3032383"/>
            <a:ext cx="7553373" cy="307134"/>
          </a:xfrm>
          <a:prstGeom prst="rect">
            <a:avLst/>
          </a:prstGeom>
        </p:spPr>
        <p:txBody>
          <a:bodyPr anchor="t" rtlCol="false" tIns="0" lIns="0" bIns="0" rIns="0">
            <a:spAutoFit/>
          </a:bodyPr>
          <a:lstStyle/>
          <a:p>
            <a:pPr algn="l">
              <a:lnSpc>
                <a:spcPts val="2520"/>
              </a:lnSpc>
            </a:pPr>
            <a:r>
              <a:rPr lang="en-US" sz="1800" i="true" spc="3">
                <a:solidFill>
                  <a:srgbClr val="E8720C"/>
                </a:solidFill>
                <a:latin typeface="IBM Plex Sans Condensed Italics"/>
                <a:ea typeface="IBM Plex Sans Condensed Italics"/>
                <a:cs typeface="IBM Plex Sans Condensed Italics"/>
                <a:sym typeface="IBM Plex Sans Condensed Italics"/>
              </a:rPr>
              <a:t>DSA0101–OOPSwithC++ | SlotD | CapstoneProject–Review2 | Team8</a:t>
            </a:r>
          </a:p>
        </p:txBody>
      </p:sp>
      <p:sp>
        <p:nvSpPr>
          <p:cNvPr name="TextBox 12" id="12"/>
          <p:cNvSpPr txBox="true"/>
          <p:nvPr/>
        </p:nvSpPr>
        <p:spPr>
          <a:xfrm rot="0">
            <a:off x="1079640" y="4270715"/>
            <a:ext cx="2669048" cy="1433655"/>
          </a:xfrm>
          <a:prstGeom prst="rect">
            <a:avLst/>
          </a:prstGeom>
        </p:spPr>
        <p:txBody>
          <a:bodyPr anchor="t" rtlCol="false" tIns="0" lIns="0" bIns="0" rIns="0">
            <a:spAutoFit/>
          </a:bodyPr>
          <a:lstStyle/>
          <a:p>
            <a:pPr algn="l">
              <a:lnSpc>
                <a:spcPts val="4083"/>
              </a:lnSpc>
            </a:pPr>
            <a:r>
              <a:rPr lang="en-US" b="true" sz="1700" spc="-10">
                <a:solidFill>
                  <a:srgbClr val="C00000"/>
                </a:solidFill>
                <a:latin typeface="Montserrat Bold"/>
                <a:ea typeface="Montserrat Bold"/>
                <a:cs typeface="Montserrat Bold"/>
                <a:sym typeface="Montserrat Bold"/>
              </a:rPr>
              <a:t>Supervisor</a:t>
            </a:r>
          </a:p>
          <a:p>
            <a:pPr algn="l">
              <a:lnSpc>
                <a:spcPts val="3838"/>
              </a:lnSpc>
            </a:pPr>
            <a:r>
              <a:rPr lang="en-US" sz="1598" spc="-3">
                <a:solidFill>
                  <a:srgbClr val="262626"/>
                </a:solidFill>
                <a:latin typeface="IBM Plex Sans Condensed"/>
                <a:ea typeface="IBM Plex Sans Condensed"/>
                <a:cs typeface="IBM Plex Sans Condensed"/>
                <a:sym typeface="IBM Plex Sans Condensed"/>
              </a:rPr>
              <a:t>Dr. K. Parimala Kanaga Devan </a:t>
            </a:r>
            <a:r>
              <a:rPr lang="en-US" sz="1598" spc="-3">
                <a:solidFill>
                  <a:srgbClr val="595959"/>
                </a:solidFill>
                <a:latin typeface="IBM Plex Sans Condensed"/>
                <a:ea typeface="IBM Plex Sans Condensed"/>
                <a:cs typeface="IBM Plex Sans Condensed"/>
                <a:sym typeface="IBM Plex Sans Condensed"/>
              </a:rPr>
              <a:t>Professor, SIMATS Engineering</a:t>
            </a:r>
          </a:p>
        </p:txBody>
      </p:sp>
      <p:sp>
        <p:nvSpPr>
          <p:cNvPr name="TextBox 13" id="13"/>
          <p:cNvSpPr txBox="true"/>
          <p:nvPr/>
        </p:nvSpPr>
        <p:spPr>
          <a:xfrm rot="0">
            <a:off x="6732567" y="4026999"/>
            <a:ext cx="2451602" cy="1921088"/>
          </a:xfrm>
          <a:prstGeom prst="rect">
            <a:avLst/>
          </a:prstGeom>
        </p:spPr>
        <p:txBody>
          <a:bodyPr anchor="t" rtlCol="false" tIns="0" lIns="0" bIns="0" rIns="0">
            <a:spAutoFit/>
          </a:bodyPr>
          <a:lstStyle/>
          <a:p>
            <a:pPr algn="l">
              <a:lnSpc>
                <a:spcPts val="4083"/>
              </a:lnSpc>
            </a:pPr>
            <a:r>
              <a:rPr lang="en-US" b="true" sz="1700" spc="-10">
                <a:solidFill>
                  <a:srgbClr val="C00000"/>
                </a:solidFill>
                <a:latin typeface="Montserrat Bold"/>
                <a:ea typeface="Montserrat Bold"/>
                <a:cs typeface="Montserrat Bold"/>
                <a:sym typeface="Montserrat Bold"/>
              </a:rPr>
              <a:t>Team 8</a:t>
            </a:r>
          </a:p>
          <a:p>
            <a:pPr algn="l">
              <a:lnSpc>
                <a:spcPts val="3838"/>
              </a:lnSpc>
            </a:pPr>
            <a:r>
              <a:rPr lang="en-US" sz="1598" spc="-3">
                <a:solidFill>
                  <a:srgbClr val="262626"/>
                </a:solidFill>
                <a:latin typeface="IBM Plex Sans Condensed"/>
                <a:ea typeface="IBM Plex Sans Condensed"/>
                <a:cs typeface="IBM Plex Sans Condensed"/>
                <a:sym typeface="IBM Plex Sans Condensed"/>
              </a:rPr>
              <a:t>Deepika S — 1921260057 Dharshidha S — 1911260095 Monisha S — 1921260015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455400" y="1001039"/>
            <a:ext cx="1634719" cy="574643"/>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Abstract</a:t>
            </a:r>
          </a:p>
        </p:txBody>
      </p:sp>
      <p:sp>
        <p:nvSpPr>
          <p:cNvPr name="TextBox 8" id="8"/>
          <p:cNvSpPr txBox="true"/>
          <p:nvPr/>
        </p:nvSpPr>
        <p:spPr>
          <a:xfrm rot="0">
            <a:off x="455400" y="2026606"/>
            <a:ext cx="87335" cy="300476"/>
          </a:xfrm>
          <a:prstGeom prst="rect">
            <a:avLst/>
          </a:prstGeom>
        </p:spPr>
        <p:txBody>
          <a:bodyPr anchor="t" rtlCol="false" tIns="0" lIns="0" bIns="0" rIns="0">
            <a:spAutoFit/>
          </a:bodyPr>
          <a:lstStyle/>
          <a:p>
            <a:pPr algn="l">
              <a:lnSpc>
                <a:spcPts val="2658"/>
              </a:lnSpc>
            </a:pPr>
            <a:r>
              <a:rPr lang="en-US" sz="1899" spc="-3">
                <a:solidFill>
                  <a:srgbClr val="262626"/>
                </a:solidFill>
                <a:latin typeface="IBM Plex Sans Condensed"/>
                <a:ea typeface="IBM Plex Sans Condensed"/>
                <a:cs typeface="IBM Plex Sans Condensed"/>
                <a:sym typeface="IBM Plex Sans Condensed"/>
              </a:rPr>
              <a:t>•</a:t>
            </a:r>
          </a:p>
        </p:txBody>
      </p:sp>
      <p:sp>
        <p:nvSpPr>
          <p:cNvPr name="TextBox 9" id="9"/>
          <p:cNvSpPr txBox="true"/>
          <p:nvPr/>
        </p:nvSpPr>
        <p:spPr>
          <a:xfrm rot="0">
            <a:off x="455400" y="2844165"/>
            <a:ext cx="87335" cy="300476"/>
          </a:xfrm>
          <a:prstGeom prst="rect">
            <a:avLst/>
          </a:prstGeom>
        </p:spPr>
        <p:txBody>
          <a:bodyPr anchor="t" rtlCol="false" tIns="0" lIns="0" bIns="0" rIns="0">
            <a:spAutoFit/>
          </a:bodyPr>
          <a:lstStyle/>
          <a:p>
            <a:pPr algn="l">
              <a:lnSpc>
                <a:spcPts val="2658"/>
              </a:lnSpc>
            </a:pPr>
            <a:r>
              <a:rPr lang="en-US" sz="1899" spc="-3">
                <a:solidFill>
                  <a:srgbClr val="262626"/>
                </a:solidFill>
                <a:latin typeface="IBM Plex Sans Condensed"/>
                <a:ea typeface="IBM Plex Sans Condensed"/>
                <a:cs typeface="IBM Plex Sans Condensed"/>
                <a:sym typeface="IBM Plex Sans Condensed"/>
              </a:rPr>
              <a:t>•</a:t>
            </a:r>
          </a:p>
        </p:txBody>
      </p:sp>
      <p:sp>
        <p:nvSpPr>
          <p:cNvPr name="TextBox 10" id="10"/>
          <p:cNvSpPr txBox="true"/>
          <p:nvPr/>
        </p:nvSpPr>
        <p:spPr>
          <a:xfrm rot="0">
            <a:off x="455400" y="3661715"/>
            <a:ext cx="87335" cy="300476"/>
          </a:xfrm>
          <a:prstGeom prst="rect">
            <a:avLst/>
          </a:prstGeom>
        </p:spPr>
        <p:txBody>
          <a:bodyPr anchor="t" rtlCol="false" tIns="0" lIns="0" bIns="0" rIns="0">
            <a:spAutoFit/>
          </a:bodyPr>
          <a:lstStyle/>
          <a:p>
            <a:pPr algn="l">
              <a:lnSpc>
                <a:spcPts val="2658"/>
              </a:lnSpc>
            </a:pPr>
            <a:r>
              <a:rPr lang="en-US" sz="1899" spc="-3">
                <a:solidFill>
                  <a:srgbClr val="262626"/>
                </a:solidFill>
                <a:latin typeface="IBM Plex Sans Condensed"/>
                <a:ea typeface="IBM Plex Sans Condensed"/>
                <a:cs typeface="IBM Plex Sans Condensed"/>
                <a:sym typeface="IBM Plex Sans Condensed"/>
              </a:rPr>
              <a:t>•</a:t>
            </a:r>
          </a:p>
        </p:txBody>
      </p:sp>
      <p:sp>
        <p:nvSpPr>
          <p:cNvPr name="TextBox 11" id="11"/>
          <p:cNvSpPr txBox="true"/>
          <p:nvPr/>
        </p:nvSpPr>
        <p:spPr>
          <a:xfrm rot="0">
            <a:off x="455400" y="4811916"/>
            <a:ext cx="87335" cy="300476"/>
          </a:xfrm>
          <a:prstGeom prst="rect">
            <a:avLst/>
          </a:prstGeom>
        </p:spPr>
        <p:txBody>
          <a:bodyPr anchor="t" rtlCol="false" tIns="0" lIns="0" bIns="0" rIns="0">
            <a:spAutoFit/>
          </a:bodyPr>
          <a:lstStyle/>
          <a:p>
            <a:pPr algn="l">
              <a:lnSpc>
                <a:spcPts val="2658"/>
              </a:lnSpc>
            </a:pPr>
            <a:r>
              <a:rPr lang="en-US" sz="1899" spc="-3">
                <a:solidFill>
                  <a:srgbClr val="262626"/>
                </a:solidFill>
                <a:latin typeface="IBM Plex Sans Condensed"/>
                <a:ea typeface="IBM Plex Sans Condensed"/>
                <a:cs typeface="IBM Plex Sans Condensed"/>
                <a:sym typeface="IBM Plex Sans Condensed"/>
              </a:rPr>
              <a:t>•</a:t>
            </a:r>
          </a:p>
        </p:txBody>
      </p:sp>
      <p:sp>
        <p:nvSpPr>
          <p:cNvPr name="TextBox 12" id="12"/>
          <p:cNvSpPr txBox="true"/>
          <p:nvPr/>
        </p:nvSpPr>
        <p:spPr>
          <a:xfrm rot="0">
            <a:off x="455400" y="5629485"/>
            <a:ext cx="87335" cy="300476"/>
          </a:xfrm>
          <a:prstGeom prst="rect">
            <a:avLst/>
          </a:prstGeom>
        </p:spPr>
        <p:txBody>
          <a:bodyPr anchor="t" rtlCol="false" tIns="0" lIns="0" bIns="0" rIns="0">
            <a:spAutoFit/>
          </a:bodyPr>
          <a:lstStyle/>
          <a:p>
            <a:pPr algn="l">
              <a:lnSpc>
                <a:spcPts val="2658"/>
              </a:lnSpc>
            </a:pPr>
            <a:r>
              <a:rPr lang="en-US" sz="1899" spc="-3">
                <a:solidFill>
                  <a:srgbClr val="262626"/>
                </a:solidFill>
                <a:latin typeface="IBM Plex Sans Condensed"/>
                <a:ea typeface="IBM Plex Sans Condensed"/>
                <a:cs typeface="IBM Plex Sans Condensed"/>
                <a:sym typeface="IBM Plex Sans Condensed"/>
              </a:rPr>
              <a:t>•</a:t>
            </a:r>
          </a:p>
        </p:txBody>
      </p:sp>
      <p:sp>
        <p:nvSpPr>
          <p:cNvPr name="TextBox 13" id="13"/>
          <p:cNvSpPr txBox="true"/>
          <p:nvPr/>
        </p:nvSpPr>
        <p:spPr>
          <a:xfrm rot="0">
            <a:off x="798471" y="1994783"/>
            <a:ext cx="11160062" cy="4395583"/>
          </a:xfrm>
          <a:prstGeom prst="rect">
            <a:avLst/>
          </a:prstGeom>
        </p:spPr>
        <p:txBody>
          <a:bodyPr anchor="t" rtlCol="false" tIns="0" lIns="0" bIns="0" rIns="0">
            <a:spAutoFit/>
          </a:bodyPr>
          <a:lstStyle/>
          <a:p>
            <a:pPr algn="l">
              <a:lnSpc>
                <a:spcPts val="2756"/>
              </a:lnSpc>
            </a:pPr>
            <a:r>
              <a:rPr lang="en-US" sz="1999" spc="-3">
                <a:solidFill>
                  <a:srgbClr val="262626"/>
                </a:solidFill>
                <a:latin typeface="IBM Plex Sans Condensed"/>
                <a:ea typeface="IBM Plex Sans Condensed"/>
                <a:cs typeface="IBM Plex Sans Condensed"/>
                <a:sym typeface="IBM Plex Sans Condensed"/>
              </a:rPr>
              <a:t>Industrial workplaces such as factories, warehouses, and construction sites face constant risks of accidents, injuries, and health hazards from unsafe conditions, hazardous gases, and machinery.</a:t>
            </a:r>
          </a:p>
          <a:p>
            <a:pPr algn="l">
              <a:lnSpc>
                <a:spcPts val="2756"/>
              </a:lnSpc>
              <a:spcBef>
                <a:spcPts val="1261"/>
              </a:spcBef>
            </a:pPr>
            <a:r>
              <a:rPr lang="en-US" sz="1999" spc="-3">
                <a:solidFill>
                  <a:srgbClr val="262626"/>
                </a:solidFill>
                <a:latin typeface="IBM Plex Sans Condensed"/>
                <a:ea typeface="IBM Plex Sans Condensed"/>
                <a:cs typeface="IBM Plex Sans Condensed"/>
                <a:sym typeface="IBM Plex Sans Condensed"/>
              </a:rPr>
              <a:t>Manual safety inspection and paper-based incident reporting are slow, error-prone, and reactive rather than preventive.</a:t>
            </a:r>
          </a:p>
          <a:p>
            <a:pPr algn="l">
              <a:lnSpc>
                <a:spcPts val="2756"/>
              </a:lnSpc>
              <a:spcBef>
                <a:spcPts val="1261"/>
              </a:spcBef>
            </a:pPr>
            <a:r>
              <a:rPr lang="en-US" sz="1999" spc="-3">
                <a:solidFill>
                  <a:srgbClr val="262626"/>
                </a:solidFill>
                <a:latin typeface="IBM Plex Sans Condensed"/>
                <a:ea typeface="IBM Plex Sans Condensed"/>
                <a:cs typeface="IBM Plex Sans Condensed"/>
                <a:sym typeface="IBM Plex Sans Condensed"/>
              </a:rPr>
              <a:t>This project proposes an Industrial Employee Safety and Occupational Health Management System that digitizes safety compliance, tracks employee health records, monitors hazard zones, and automates incident reporting and alerts.</a:t>
            </a:r>
          </a:p>
          <a:p>
            <a:pPr algn="l">
              <a:lnSpc>
                <a:spcPts val="2756"/>
              </a:lnSpc>
              <a:spcBef>
                <a:spcPts val="1261"/>
              </a:spcBef>
            </a:pPr>
            <a:r>
              <a:rPr lang="en-US" sz="1999" spc="-3">
                <a:solidFill>
                  <a:srgbClr val="262626"/>
                </a:solidFill>
                <a:latin typeface="IBM Plex Sans Condensed"/>
                <a:ea typeface="IBM Plex Sans Condensed"/>
                <a:cs typeface="IBM Plex Sans Condensed"/>
                <a:sym typeface="IBM Plex Sans Condensed"/>
              </a:rPr>
              <a:t>The system is built using Object-Oriented Programming concepts in C++ to model employees, safety equipment, hazard zones, and incident records as reusable, maintainable classes.</a:t>
            </a:r>
          </a:p>
          <a:p>
            <a:pPr algn="l">
              <a:lnSpc>
                <a:spcPts val="2756"/>
              </a:lnSpc>
              <a:spcBef>
                <a:spcPts val="1261"/>
              </a:spcBef>
            </a:pPr>
            <a:r>
              <a:rPr lang="en-US" sz="1999" spc="-3">
                <a:solidFill>
                  <a:srgbClr val="262626"/>
                </a:solidFill>
                <a:latin typeface="IBM Plex Sans Condensed"/>
                <a:ea typeface="IBM Plex Sans Condensed"/>
                <a:cs typeface="IBM Plex Sans Condensed"/>
                <a:sym typeface="IBM Plex Sans Condensed"/>
              </a:rPr>
              <a:t>The goal is to reduce workplace accidents, ensure regulatory compliance, and improve response time during emergencies.</a:t>
            </a:r>
          </a:p>
        </p:txBody>
      </p:sp>
      <p:sp>
        <p:nvSpPr>
          <p:cNvPr name="TextBox 14" id="14"/>
          <p:cNvSpPr txBox="true"/>
          <p:nvPr/>
        </p:nvSpPr>
        <p:spPr>
          <a:xfrm rot="0">
            <a:off x="11761556" y="6508404"/>
            <a:ext cx="64808"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1761556" y="6508404"/>
            <a:ext cx="64808"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4</a:t>
            </a:r>
          </a:p>
        </p:txBody>
      </p:sp>
      <p:sp>
        <p:nvSpPr>
          <p:cNvPr name="TextBox 8" id="8"/>
          <p:cNvSpPr txBox="true"/>
          <p:nvPr/>
        </p:nvSpPr>
        <p:spPr>
          <a:xfrm rot="0">
            <a:off x="455400" y="1001039"/>
            <a:ext cx="2990736" cy="574643"/>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Existing System</a:t>
            </a:r>
          </a:p>
        </p:txBody>
      </p:sp>
      <p:sp>
        <p:nvSpPr>
          <p:cNvPr name="TextBox 9" id="9"/>
          <p:cNvSpPr txBox="true"/>
          <p:nvPr/>
        </p:nvSpPr>
        <p:spPr>
          <a:xfrm rot="0">
            <a:off x="499067" y="1994783"/>
            <a:ext cx="87335" cy="300476"/>
          </a:xfrm>
          <a:prstGeom prst="rect">
            <a:avLst/>
          </a:prstGeom>
        </p:spPr>
        <p:txBody>
          <a:bodyPr anchor="t" rtlCol="false" tIns="0" lIns="0" bIns="0" rIns="0">
            <a:spAutoFit/>
          </a:bodyPr>
          <a:lstStyle/>
          <a:p>
            <a:pPr algn="l">
              <a:lnSpc>
                <a:spcPts val="2658"/>
              </a:lnSpc>
            </a:pPr>
            <a:r>
              <a:rPr lang="en-US" sz="1899" spc="-3">
                <a:solidFill>
                  <a:srgbClr val="262626"/>
                </a:solidFill>
                <a:latin typeface="IBM Plex Sans Condensed"/>
                <a:ea typeface="IBM Plex Sans Condensed"/>
                <a:cs typeface="IBM Plex Sans Condensed"/>
                <a:sym typeface="IBM Plex Sans Condensed"/>
              </a:rPr>
              <a:t>•</a:t>
            </a:r>
          </a:p>
        </p:txBody>
      </p:sp>
      <p:sp>
        <p:nvSpPr>
          <p:cNvPr name="TextBox 10" id="10"/>
          <p:cNvSpPr txBox="true"/>
          <p:nvPr/>
        </p:nvSpPr>
        <p:spPr>
          <a:xfrm rot="0">
            <a:off x="499067" y="2870340"/>
            <a:ext cx="87335" cy="1869538"/>
          </a:xfrm>
          <a:prstGeom prst="rect">
            <a:avLst/>
          </a:prstGeom>
        </p:spPr>
        <p:txBody>
          <a:bodyPr anchor="t" rtlCol="false" tIns="0" lIns="0" bIns="0" rIns="0">
            <a:spAutoFit/>
          </a:bodyPr>
          <a:lstStyle/>
          <a:p>
            <a:pPr algn="just">
              <a:lnSpc>
                <a:spcPts val="3817"/>
              </a:lnSpc>
            </a:pPr>
            <a:r>
              <a:rPr lang="en-US" sz="1899" spc="-3">
                <a:solidFill>
                  <a:srgbClr val="262626"/>
                </a:solidFill>
                <a:latin typeface="IBM Plex Sans Condensed"/>
                <a:ea typeface="IBM Plex Sans Condensed"/>
                <a:cs typeface="IBM Plex Sans Condensed"/>
                <a:sym typeface="IBM Plex Sans Condensed"/>
              </a:rPr>
              <a:t>• • • •</a:t>
            </a:r>
          </a:p>
        </p:txBody>
      </p:sp>
      <p:sp>
        <p:nvSpPr>
          <p:cNvPr name="TextBox 11" id="11"/>
          <p:cNvSpPr txBox="true"/>
          <p:nvPr/>
        </p:nvSpPr>
        <p:spPr>
          <a:xfrm rot="0">
            <a:off x="499067" y="5330991"/>
            <a:ext cx="87335" cy="300476"/>
          </a:xfrm>
          <a:prstGeom prst="rect">
            <a:avLst/>
          </a:prstGeom>
        </p:spPr>
        <p:txBody>
          <a:bodyPr anchor="t" rtlCol="false" tIns="0" lIns="0" bIns="0" rIns="0">
            <a:spAutoFit/>
          </a:bodyPr>
          <a:lstStyle/>
          <a:p>
            <a:pPr algn="l">
              <a:lnSpc>
                <a:spcPts val="2658"/>
              </a:lnSpc>
            </a:pPr>
            <a:r>
              <a:rPr lang="en-US" sz="1899" spc="-3">
                <a:solidFill>
                  <a:srgbClr val="262626"/>
                </a:solidFill>
                <a:latin typeface="IBM Plex Sans Condensed"/>
                <a:ea typeface="IBM Plex Sans Condensed"/>
                <a:cs typeface="IBM Plex Sans Condensed"/>
                <a:sym typeface="IBM Plex Sans Condensed"/>
              </a:rPr>
              <a:t>•</a:t>
            </a:r>
          </a:p>
        </p:txBody>
      </p:sp>
      <p:sp>
        <p:nvSpPr>
          <p:cNvPr name="TextBox 12" id="12"/>
          <p:cNvSpPr txBox="true"/>
          <p:nvPr/>
        </p:nvSpPr>
        <p:spPr>
          <a:xfrm rot="0">
            <a:off x="836752" y="1870958"/>
            <a:ext cx="10986364" cy="4490167"/>
          </a:xfrm>
          <a:prstGeom prst="rect">
            <a:avLst/>
          </a:prstGeom>
        </p:spPr>
        <p:txBody>
          <a:bodyPr anchor="t" rtlCol="false" tIns="0" lIns="0" bIns="0" rIns="0">
            <a:spAutoFit/>
          </a:bodyPr>
          <a:lstStyle/>
          <a:p>
            <a:pPr algn="l">
              <a:lnSpc>
                <a:spcPts val="4018"/>
              </a:lnSpc>
            </a:pPr>
            <a:r>
              <a:rPr lang="en-US" sz="1999" spc="-3">
                <a:solidFill>
                  <a:srgbClr val="262626"/>
                </a:solidFill>
                <a:latin typeface="IBM Plex Sans Condensed"/>
                <a:ea typeface="IBM Plex Sans Condensed"/>
                <a:cs typeface="IBM Plex Sans Condensed"/>
                <a:sym typeface="IBM Plex Sans Condensed"/>
              </a:rPr>
              <a:t>Safety inspections and incident reports are largely manual and paper-based, causing delays in identifying hazards.</a:t>
            </a:r>
          </a:p>
          <a:p>
            <a:pPr algn="l">
              <a:lnSpc>
                <a:spcPts val="4018"/>
              </a:lnSpc>
            </a:pPr>
            <a:r>
              <a:rPr lang="en-US" sz="1999" spc="-3">
                <a:solidFill>
                  <a:srgbClr val="262626"/>
                </a:solidFill>
                <a:latin typeface="IBM Plex Sans Condensed"/>
                <a:ea typeface="IBM Plex Sans Condensed"/>
                <a:cs typeface="IBM Plex Sans Condensed"/>
                <a:sym typeface="IBM Plex Sans Condensed"/>
              </a:rPr>
              <a:t>No centralized system tracks employee health history, PPE compliance, and training records together. Hazardous zones (gas leaks, high temperature, restricted machinery areas) are not monitored in real time. Emergency alerts depend on manual reporting, increasing response time during accidents.</a:t>
            </a:r>
          </a:p>
          <a:p>
            <a:pPr algn="l">
              <a:lnSpc>
                <a:spcPts val="4018"/>
              </a:lnSpc>
            </a:pPr>
            <a:r>
              <a:rPr lang="en-US" sz="1999" spc="-3">
                <a:solidFill>
                  <a:srgbClr val="262626"/>
                </a:solidFill>
                <a:latin typeface="IBM Plex Sans Condensed"/>
                <a:ea typeface="IBM Plex Sans Condensed"/>
                <a:cs typeface="IBM Plex Sans Condensed"/>
                <a:sym typeface="IBM Plex Sans Condensed"/>
              </a:rPr>
              <a:t>Existing IoT-based solutions from literature focus mainly on sensor hardware and lack an integrated, extensible software backend.</a:t>
            </a:r>
          </a:p>
          <a:p>
            <a:pPr algn="l">
              <a:lnSpc>
                <a:spcPts val="4018"/>
              </a:lnSpc>
            </a:pPr>
            <a:r>
              <a:rPr lang="en-US" sz="1999" spc="-3">
                <a:solidFill>
                  <a:srgbClr val="262626"/>
                </a:solidFill>
                <a:latin typeface="IBM Plex Sans Condensed"/>
                <a:ea typeface="IBM Plex Sans Condensed"/>
                <a:cs typeface="IBM Plex Sans Condensed"/>
                <a:sym typeface="IBM Plex Sans Condensed"/>
              </a:rPr>
              <a:t>There is a lack of role-based access for supervisors, safety officers, and employees within a single management system.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1761556" y="6508404"/>
            <a:ext cx="64808"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5</a:t>
            </a:r>
          </a:p>
        </p:txBody>
      </p:sp>
      <p:sp>
        <p:nvSpPr>
          <p:cNvPr name="TextBox 8" id="8"/>
          <p:cNvSpPr txBox="true"/>
          <p:nvPr/>
        </p:nvSpPr>
        <p:spPr>
          <a:xfrm rot="0">
            <a:off x="455400" y="1001039"/>
            <a:ext cx="3616357" cy="574643"/>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Problem Statement</a:t>
            </a:r>
          </a:p>
        </p:txBody>
      </p:sp>
      <p:sp>
        <p:nvSpPr>
          <p:cNvPr name="TextBox 9" id="9"/>
          <p:cNvSpPr txBox="true"/>
          <p:nvPr/>
        </p:nvSpPr>
        <p:spPr>
          <a:xfrm rot="0">
            <a:off x="455400" y="1870958"/>
            <a:ext cx="11097320" cy="3985342"/>
          </a:xfrm>
          <a:prstGeom prst="rect">
            <a:avLst/>
          </a:prstGeom>
        </p:spPr>
        <p:txBody>
          <a:bodyPr anchor="t" rtlCol="false" tIns="0" lIns="0" bIns="0" rIns="0">
            <a:spAutoFit/>
          </a:bodyPr>
          <a:lstStyle/>
          <a:p>
            <a:pPr algn="l">
              <a:lnSpc>
                <a:spcPts val="4018"/>
              </a:lnSpc>
            </a:pPr>
            <a:r>
              <a:rPr lang="en-US" sz="1999" spc="-3">
                <a:solidFill>
                  <a:srgbClr val="262626"/>
                </a:solidFill>
                <a:latin typeface="IBM Plex Sans Condensed"/>
                <a:ea typeface="IBM Plex Sans Condensed"/>
                <a:cs typeface="IBM Plex Sans Condensed"/>
                <a:sym typeface="IBM Plex Sans Condensed"/>
              </a:rPr>
              <a:t>Manual, paper-based safety inspection and incident reporting delay hazard detection and corrective action. Employee health, PPE compliance, and training records are fragmented across different registers, making them hard to track together.</a:t>
            </a:r>
          </a:p>
          <a:p>
            <a:pPr algn="l">
              <a:lnSpc>
                <a:spcPts val="4018"/>
              </a:lnSpc>
            </a:pPr>
            <a:r>
              <a:rPr lang="en-US" sz="1999" spc="-3">
                <a:solidFill>
                  <a:srgbClr val="262626"/>
                </a:solidFill>
                <a:latin typeface="IBM Plex Sans Condensed"/>
                <a:ea typeface="IBM Plex Sans Condensed"/>
                <a:cs typeface="IBM Plex Sans Condensed"/>
                <a:sym typeface="IBM Plex Sans Condensed"/>
              </a:rPr>
              <a:t>Hazardous zones are not monitored continuously, so unsafe conditions can go unnoticed until an accident occurs. Emergency response is slow because alerts rely on someone manually noticing and reporting a hazard.</a:t>
            </a:r>
          </a:p>
          <a:p>
            <a:pPr algn="l">
              <a:lnSpc>
                <a:spcPts val="4018"/>
              </a:lnSpc>
            </a:pPr>
            <a:r>
              <a:rPr lang="en-US" sz="1999" spc="-3">
                <a:solidFill>
                  <a:srgbClr val="262626"/>
                </a:solidFill>
                <a:latin typeface="IBM Plex Sans Condensed"/>
                <a:ea typeface="IBM Plex Sans Condensed"/>
                <a:cs typeface="IBM Plex Sans Condensed"/>
                <a:sym typeface="IBM Plex Sans Condensed"/>
              </a:rPr>
              <a:t>There is no unified, software-driven system to manage employees, hazard zones, incidents, and compliance under one platform.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1761556" y="6508404"/>
            <a:ext cx="64808"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6</a:t>
            </a:r>
          </a:p>
        </p:txBody>
      </p:sp>
      <p:sp>
        <p:nvSpPr>
          <p:cNvPr name="TextBox 8" id="8"/>
          <p:cNvSpPr txBox="true"/>
          <p:nvPr/>
        </p:nvSpPr>
        <p:spPr>
          <a:xfrm rot="0">
            <a:off x="455400" y="1001039"/>
            <a:ext cx="1975037" cy="574643"/>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Objectives</a:t>
            </a:r>
          </a:p>
        </p:txBody>
      </p:sp>
      <p:sp>
        <p:nvSpPr>
          <p:cNvPr name="TextBox 9" id="9"/>
          <p:cNvSpPr txBox="true"/>
          <p:nvPr/>
        </p:nvSpPr>
        <p:spPr>
          <a:xfrm rot="0">
            <a:off x="607590" y="1718558"/>
            <a:ext cx="78210" cy="3910380"/>
          </a:xfrm>
          <a:prstGeom prst="rect">
            <a:avLst/>
          </a:prstGeom>
        </p:spPr>
        <p:txBody>
          <a:bodyPr anchor="t" rtlCol="false" tIns="0" lIns="0" bIns="0" rIns="0">
            <a:spAutoFit/>
          </a:bodyPr>
          <a:lstStyle/>
          <a:p>
            <a:pPr algn="just">
              <a:lnSpc>
                <a:spcPts val="3935"/>
              </a:lnSpc>
            </a:pPr>
            <a:r>
              <a:rPr lang="en-US" sz="2000" spc="-4">
                <a:solidFill>
                  <a:srgbClr val="262626"/>
                </a:solidFill>
                <a:latin typeface="IBM Plex Sans Condensed"/>
                <a:ea typeface="IBM Plex Sans Condensed"/>
                <a:cs typeface="IBM Plex Sans Condensed"/>
                <a:sym typeface="IBM Plex Sans Condensed"/>
              </a:rPr>
              <a:t>• • • • • • • •</a:t>
            </a:r>
          </a:p>
        </p:txBody>
      </p:sp>
      <p:sp>
        <p:nvSpPr>
          <p:cNvPr name="TextBox 10" id="10"/>
          <p:cNvSpPr txBox="true"/>
          <p:nvPr/>
        </p:nvSpPr>
        <p:spPr>
          <a:xfrm rot="0">
            <a:off x="969645" y="1718558"/>
            <a:ext cx="10249586" cy="4405680"/>
          </a:xfrm>
          <a:prstGeom prst="rect">
            <a:avLst/>
          </a:prstGeom>
        </p:spPr>
        <p:txBody>
          <a:bodyPr anchor="t" rtlCol="false" tIns="0" lIns="0" bIns="0" rIns="0">
            <a:spAutoFit/>
          </a:bodyPr>
          <a:lstStyle/>
          <a:p>
            <a:pPr algn="l">
              <a:lnSpc>
                <a:spcPts val="3935"/>
              </a:lnSpc>
            </a:pPr>
            <a:r>
              <a:rPr lang="en-US" sz="2000" spc="-2">
                <a:solidFill>
                  <a:srgbClr val="262626"/>
                </a:solidFill>
                <a:latin typeface="IBM Plex Sans Condensed"/>
                <a:ea typeface="IBM Plex Sans Condensed"/>
                <a:cs typeface="IBM Plex Sans Condensed"/>
                <a:sym typeface="IBM Plex Sans Condensed"/>
              </a:rPr>
              <a:t>Develop an Industrial Employee Safety and Occupational Health Management System using C++.</a:t>
            </a:r>
          </a:p>
          <a:p>
            <a:pPr algn="l">
              <a:lnSpc>
                <a:spcPts val="3935"/>
              </a:lnSpc>
            </a:pPr>
            <a:r>
              <a:rPr lang="en-US" sz="2000" spc="-2">
                <a:solidFill>
                  <a:srgbClr val="262626"/>
                </a:solidFill>
                <a:latin typeface="IBM Plex Sans Condensed"/>
                <a:ea typeface="IBM Plex Sans Condensed"/>
                <a:cs typeface="IBM Plex Sans Condensed"/>
                <a:sym typeface="IBM Plex Sans Condensed"/>
              </a:rPr>
              <a:t>Apply Object-Oriented Programming concepts to model employees, hazard zones, and incidents as reusable classes. Store and manage employee profiles, health records, and training/certification status.</a:t>
            </a:r>
          </a:p>
          <a:p>
            <a:pPr algn="l">
              <a:lnSpc>
                <a:spcPts val="3935"/>
              </a:lnSpc>
            </a:pPr>
            <a:r>
              <a:rPr lang="en-US" sz="2000" spc="-2">
                <a:solidFill>
                  <a:srgbClr val="262626"/>
                </a:solidFill>
                <a:latin typeface="IBM Plex Sans Condensed"/>
                <a:ea typeface="IBM Plex Sans Condensed"/>
                <a:cs typeface="IBM Plex Sans Condensed"/>
                <a:sym typeface="IBM Plex Sans Condensed"/>
              </a:rPr>
              <a:t>Classify hazard zones by risk level and log sensor-based hazard events.</a:t>
            </a:r>
          </a:p>
          <a:p>
            <a:pPr algn="l">
              <a:lnSpc>
                <a:spcPts val="3935"/>
              </a:lnSpc>
            </a:pPr>
            <a:r>
              <a:rPr lang="en-US" sz="2000" spc="-2">
                <a:solidFill>
                  <a:srgbClr val="262626"/>
                </a:solidFill>
                <a:latin typeface="IBM Plex Sans Condensed"/>
                <a:ea typeface="IBM Plex Sans Condensed"/>
                <a:cs typeface="IBM Plex Sans Condensed"/>
                <a:sym typeface="IBM Plex Sans Condensed"/>
              </a:rPr>
              <a:t>Digitize incident and near-miss reporting with severity classification and corrective action tracking.</a:t>
            </a:r>
          </a:p>
          <a:p>
            <a:pPr algn="l">
              <a:lnSpc>
                <a:spcPts val="3935"/>
              </a:lnSpc>
            </a:pPr>
            <a:r>
              <a:rPr lang="en-US" sz="2000" spc="-2">
                <a:solidFill>
                  <a:srgbClr val="262626"/>
                </a:solidFill>
                <a:latin typeface="IBM Plex Sans Condensed"/>
                <a:ea typeface="IBM Plex Sans Condensed"/>
                <a:cs typeface="IBM Plex Sans Condensed"/>
                <a:sym typeface="IBM Plex Sans Condensed"/>
              </a:rPr>
              <a:t>Track PPE issuance and compliance status for every employee.</a:t>
            </a:r>
          </a:p>
          <a:p>
            <a:pPr algn="l">
              <a:lnSpc>
                <a:spcPts val="3935"/>
              </a:lnSpc>
            </a:pPr>
            <a:r>
              <a:rPr lang="en-US" sz="2000" spc="-2">
                <a:solidFill>
                  <a:srgbClr val="262626"/>
                </a:solidFill>
                <a:latin typeface="IBM Plex Sans Condensed"/>
                <a:ea typeface="IBM Plex Sans Condensed"/>
                <a:cs typeface="IBM Plex Sans Condensed"/>
                <a:sym typeface="IBM Plex Sans Condensed"/>
              </a:rPr>
              <a:t>Generate real-time alerts and notifications to supervisors during hazard or incident events.</a:t>
            </a:r>
          </a:p>
          <a:p>
            <a:pPr algn="l">
              <a:lnSpc>
                <a:spcPts val="3935"/>
              </a:lnSpc>
            </a:pPr>
            <a:r>
              <a:rPr lang="en-US" sz="2000" spc="-2">
                <a:solidFill>
                  <a:srgbClr val="262626"/>
                </a:solidFill>
                <a:latin typeface="IBM Plex Sans Condensed"/>
                <a:ea typeface="IBM Plex Sans Condensed"/>
                <a:cs typeface="IBM Plex Sans Condensed"/>
                <a:sym typeface="IBM Plex Sans Condensed"/>
              </a:rPr>
              <a:t>Improve workplace safety, regulatory compliance, and emergency response time.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99380" y="1533820"/>
            <a:ext cx="11379889" cy="4978718"/>
          </a:xfrm>
          <a:custGeom>
            <a:avLst/>
            <a:gdLst/>
            <a:ahLst/>
            <a:cxnLst/>
            <a:rect r="r" b="b" t="t" l="l"/>
            <a:pathLst>
              <a:path h="4978718" w="11379889">
                <a:moveTo>
                  <a:pt x="0" y="0"/>
                </a:moveTo>
                <a:lnTo>
                  <a:pt x="11379889" y="0"/>
                </a:lnTo>
                <a:lnTo>
                  <a:pt x="11379889" y="4978718"/>
                </a:lnTo>
                <a:lnTo>
                  <a:pt x="0" y="49787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1761556" y="6508404"/>
            <a:ext cx="64808"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7</a:t>
            </a:r>
          </a:p>
        </p:txBody>
      </p:sp>
      <p:sp>
        <p:nvSpPr>
          <p:cNvPr name="TextBox 9" id="9"/>
          <p:cNvSpPr txBox="true"/>
          <p:nvPr/>
        </p:nvSpPr>
        <p:spPr>
          <a:xfrm rot="0">
            <a:off x="455400" y="1001039"/>
            <a:ext cx="6347774" cy="574643"/>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Literature Survey (Latest Papers)</a:t>
            </a:r>
          </a:p>
        </p:txBody>
      </p:sp>
      <p:sp>
        <p:nvSpPr>
          <p:cNvPr name="TextBox 10" id="10"/>
          <p:cNvSpPr txBox="true"/>
          <p:nvPr/>
        </p:nvSpPr>
        <p:spPr>
          <a:xfrm rot="0">
            <a:off x="457200" y="1828476"/>
            <a:ext cx="361340" cy="237868"/>
          </a:xfrm>
          <a:prstGeom prst="rect">
            <a:avLst/>
          </a:prstGeom>
        </p:spPr>
        <p:txBody>
          <a:bodyPr anchor="t" rtlCol="false" tIns="0" lIns="0" bIns="0" rIns="0">
            <a:spAutoFit/>
          </a:bodyPr>
          <a:lstStyle/>
          <a:p>
            <a:pPr algn="l">
              <a:lnSpc>
                <a:spcPts val="1960"/>
              </a:lnSpc>
            </a:pPr>
            <a:r>
              <a:rPr lang="en-US" b="true" sz="1400" spc="-8">
                <a:solidFill>
                  <a:srgbClr val="FFFFFF"/>
                </a:solidFill>
                <a:latin typeface="Montserrat Bold"/>
                <a:ea typeface="Montserrat Bold"/>
                <a:cs typeface="Montserrat Bold"/>
                <a:sym typeface="Montserrat Bold"/>
              </a:rPr>
              <a:t>Year</a:t>
            </a:r>
          </a:p>
        </p:txBody>
      </p:sp>
      <p:sp>
        <p:nvSpPr>
          <p:cNvPr name="TextBox 11" id="11"/>
          <p:cNvSpPr txBox="true"/>
          <p:nvPr/>
        </p:nvSpPr>
        <p:spPr>
          <a:xfrm rot="0">
            <a:off x="1463040" y="1828476"/>
            <a:ext cx="1125922" cy="237868"/>
          </a:xfrm>
          <a:prstGeom prst="rect">
            <a:avLst/>
          </a:prstGeom>
        </p:spPr>
        <p:txBody>
          <a:bodyPr anchor="t" rtlCol="false" tIns="0" lIns="0" bIns="0" rIns="0">
            <a:spAutoFit/>
          </a:bodyPr>
          <a:lstStyle/>
          <a:p>
            <a:pPr algn="l">
              <a:lnSpc>
                <a:spcPts val="1960"/>
              </a:lnSpc>
            </a:pPr>
            <a:r>
              <a:rPr lang="en-US" b="true" sz="1400" spc="-8">
                <a:solidFill>
                  <a:srgbClr val="FFFFFF"/>
                </a:solidFill>
                <a:latin typeface="Montserrat Bold"/>
                <a:ea typeface="Montserrat Bold"/>
                <a:cs typeface="Montserrat Bold"/>
                <a:sym typeface="Montserrat Bold"/>
              </a:rPr>
              <a:t>Title / Authors</a:t>
            </a:r>
          </a:p>
        </p:txBody>
      </p:sp>
      <p:sp>
        <p:nvSpPr>
          <p:cNvPr name="TextBox 12" id="12"/>
          <p:cNvSpPr txBox="true"/>
          <p:nvPr/>
        </p:nvSpPr>
        <p:spPr>
          <a:xfrm rot="0">
            <a:off x="7315200" y="1828476"/>
            <a:ext cx="1376791" cy="237868"/>
          </a:xfrm>
          <a:prstGeom prst="rect">
            <a:avLst/>
          </a:prstGeom>
        </p:spPr>
        <p:txBody>
          <a:bodyPr anchor="t" rtlCol="false" tIns="0" lIns="0" bIns="0" rIns="0">
            <a:spAutoFit/>
          </a:bodyPr>
          <a:lstStyle/>
          <a:p>
            <a:pPr algn="l">
              <a:lnSpc>
                <a:spcPts val="1960"/>
              </a:lnSpc>
            </a:pPr>
            <a:r>
              <a:rPr lang="en-US" b="true" sz="1400" spc="-7">
                <a:solidFill>
                  <a:srgbClr val="FFFFFF"/>
                </a:solidFill>
                <a:latin typeface="Montserrat Bold"/>
                <a:ea typeface="Montserrat Bold"/>
                <a:cs typeface="Montserrat Bold"/>
                <a:sym typeface="Montserrat Bold"/>
              </a:rPr>
              <a:t>Key Contribution</a:t>
            </a:r>
          </a:p>
        </p:txBody>
      </p:sp>
      <p:sp>
        <p:nvSpPr>
          <p:cNvPr name="TextBox 13" id="13"/>
          <p:cNvSpPr txBox="true"/>
          <p:nvPr/>
        </p:nvSpPr>
        <p:spPr>
          <a:xfrm rot="0">
            <a:off x="457200" y="2526649"/>
            <a:ext cx="588216" cy="223037"/>
          </a:xfrm>
          <a:prstGeom prst="rect">
            <a:avLst/>
          </a:prstGeom>
        </p:spPr>
        <p:txBody>
          <a:bodyPr anchor="t" rtlCol="false" tIns="0" lIns="0" bIns="0" rIns="0">
            <a:spAutoFit/>
          </a:bodyPr>
          <a:lstStyle/>
          <a:p>
            <a:pPr algn="l">
              <a:lnSpc>
                <a:spcPts val="1821"/>
              </a:lnSpc>
            </a:pPr>
            <a:r>
              <a:rPr lang="en-US" sz="1301" spc="-2">
                <a:solidFill>
                  <a:srgbClr val="262626"/>
                </a:solidFill>
                <a:latin typeface="IBM Plex Sans Condensed"/>
                <a:ea typeface="IBM Plex Sans Condensed"/>
                <a:cs typeface="IBM Plex Sans Condensed"/>
                <a:sym typeface="IBM Plex Sans Condensed"/>
              </a:rPr>
              <a:t>2024–25</a:t>
            </a:r>
          </a:p>
        </p:txBody>
      </p:sp>
      <p:sp>
        <p:nvSpPr>
          <p:cNvPr name="TextBox 14" id="14"/>
          <p:cNvSpPr txBox="true"/>
          <p:nvPr/>
        </p:nvSpPr>
        <p:spPr>
          <a:xfrm rot="0">
            <a:off x="457200" y="3218926"/>
            <a:ext cx="588216" cy="223037"/>
          </a:xfrm>
          <a:prstGeom prst="rect">
            <a:avLst/>
          </a:prstGeom>
        </p:spPr>
        <p:txBody>
          <a:bodyPr anchor="t" rtlCol="false" tIns="0" lIns="0" bIns="0" rIns="0">
            <a:spAutoFit/>
          </a:bodyPr>
          <a:lstStyle/>
          <a:p>
            <a:pPr algn="l">
              <a:lnSpc>
                <a:spcPts val="1821"/>
              </a:lnSpc>
            </a:pPr>
            <a:r>
              <a:rPr lang="en-US" sz="1301" spc="-2">
                <a:solidFill>
                  <a:srgbClr val="262626"/>
                </a:solidFill>
                <a:latin typeface="IBM Plex Sans Condensed"/>
                <a:ea typeface="IBM Plex Sans Condensed"/>
                <a:cs typeface="IBM Plex Sans Condensed"/>
                <a:sym typeface="IBM Plex Sans Condensed"/>
              </a:rPr>
              <a:t>2024–25</a:t>
            </a:r>
          </a:p>
        </p:txBody>
      </p:sp>
      <p:sp>
        <p:nvSpPr>
          <p:cNvPr name="TextBox 15" id="15"/>
          <p:cNvSpPr txBox="true"/>
          <p:nvPr/>
        </p:nvSpPr>
        <p:spPr>
          <a:xfrm rot="0">
            <a:off x="457200" y="3911203"/>
            <a:ext cx="588216" cy="223037"/>
          </a:xfrm>
          <a:prstGeom prst="rect">
            <a:avLst/>
          </a:prstGeom>
        </p:spPr>
        <p:txBody>
          <a:bodyPr anchor="t" rtlCol="false" tIns="0" lIns="0" bIns="0" rIns="0">
            <a:spAutoFit/>
          </a:bodyPr>
          <a:lstStyle/>
          <a:p>
            <a:pPr algn="l">
              <a:lnSpc>
                <a:spcPts val="1821"/>
              </a:lnSpc>
            </a:pPr>
            <a:r>
              <a:rPr lang="en-US" sz="1301" spc="-2">
                <a:solidFill>
                  <a:srgbClr val="262626"/>
                </a:solidFill>
                <a:latin typeface="IBM Plex Sans Condensed"/>
                <a:ea typeface="IBM Plex Sans Condensed"/>
                <a:cs typeface="IBM Plex Sans Condensed"/>
                <a:sym typeface="IBM Plex Sans Condensed"/>
              </a:rPr>
              <a:t>2023–24</a:t>
            </a:r>
          </a:p>
        </p:txBody>
      </p:sp>
      <p:sp>
        <p:nvSpPr>
          <p:cNvPr name="TextBox 16" id="16"/>
          <p:cNvSpPr txBox="true"/>
          <p:nvPr/>
        </p:nvSpPr>
        <p:spPr>
          <a:xfrm rot="0">
            <a:off x="457200" y="4603480"/>
            <a:ext cx="588216" cy="223037"/>
          </a:xfrm>
          <a:prstGeom prst="rect">
            <a:avLst/>
          </a:prstGeom>
        </p:spPr>
        <p:txBody>
          <a:bodyPr anchor="t" rtlCol="false" tIns="0" lIns="0" bIns="0" rIns="0">
            <a:spAutoFit/>
          </a:bodyPr>
          <a:lstStyle/>
          <a:p>
            <a:pPr algn="l">
              <a:lnSpc>
                <a:spcPts val="1821"/>
              </a:lnSpc>
            </a:pPr>
            <a:r>
              <a:rPr lang="en-US" sz="1301" spc="-2">
                <a:solidFill>
                  <a:srgbClr val="262626"/>
                </a:solidFill>
                <a:latin typeface="IBM Plex Sans Condensed"/>
                <a:ea typeface="IBM Plex Sans Condensed"/>
                <a:cs typeface="IBM Plex Sans Condensed"/>
                <a:sym typeface="IBM Plex Sans Condensed"/>
              </a:rPr>
              <a:t>2023–24</a:t>
            </a:r>
          </a:p>
        </p:txBody>
      </p:sp>
      <p:sp>
        <p:nvSpPr>
          <p:cNvPr name="TextBox 17" id="17"/>
          <p:cNvSpPr txBox="true"/>
          <p:nvPr/>
        </p:nvSpPr>
        <p:spPr>
          <a:xfrm rot="0">
            <a:off x="457200" y="5295757"/>
            <a:ext cx="588216" cy="223037"/>
          </a:xfrm>
          <a:prstGeom prst="rect">
            <a:avLst/>
          </a:prstGeom>
        </p:spPr>
        <p:txBody>
          <a:bodyPr anchor="t" rtlCol="false" tIns="0" lIns="0" bIns="0" rIns="0">
            <a:spAutoFit/>
          </a:bodyPr>
          <a:lstStyle/>
          <a:p>
            <a:pPr algn="l">
              <a:lnSpc>
                <a:spcPts val="1821"/>
              </a:lnSpc>
            </a:pPr>
            <a:r>
              <a:rPr lang="en-US" sz="1301" spc="-2">
                <a:solidFill>
                  <a:srgbClr val="262626"/>
                </a:solidFill>
                <a:latin typeface="IBM Plex Sans Condensed"/>
                <a:ea typeface="IBM Plex Sans Condensed"/>
                <a:cs typeface="IBM Plex Sans Condensed"/>
                <a:sym typeface="IBM Plex Sans Condensed"/>
              </a:rPr>
              <a:t>2022–23</a:t>
            </a:r>
          </a:p>
        </p:txBody>
      </p:sp>
      <p:sp>
        <p:nvSpPr>
          <p:cNvPr name="TextBox 18" id="18"/>
          <p:cNvSpPr txBox="true"/>
          <p:nvPr/>
        </p:nvSpPr>
        <p:spPr>
          <a:xfrm rot="0">
            <a:off x="457200" y="5988053"/>
            <a:ext cx="588216" cy="223037"/>
          </a:xfrm>
          <a:prstGeom prst="rect">
            <a:avLst/>
          </a:prstGeom>
        </p:spPr>
        <p:txBody>
          <a:bodyPr anchor="t" rtlCol="false" tIns="0" lIns="0" bIns="0" rIns="0">
            <a:spAutoFit/>
          </a:bodyPr>
          <a:lstStyle/>
          <a:p>
            <a:pPr algn="l">
              <a:lnSpc>
                <a:spcPts val="1821"/>
              </a:lnSpc>
            </a:pPr>
            <a:r>
              <a:rPr lang="en-US" sz="1301" spc="-2">
                <a:solidFill>
                  <a:srgbClr val="262626"/>
                </a:solidFill>
                <a:latin typeface="IBM Plex Sans Condensed"/>
                <a:ea typeface="IBM Plex Sans Condensed"/>
                <a:cs typeface="IBM Plex Sans Condensed"/>
                <a:sym typeface="IBM Plex Sans Condensed"/>
              </a:rPr>
              <a:t>2022–23</a:t>
            </a:r>
          </a:p>
        </p:txBody>
      </p:sp>
      <p:sp>
        <p:nvSpPr>
          <p:cNvPr name="TextBox 19" id="19"/>
          <p:cNvSpPr txBox="true"/>
          <p:nvPr/>
        </p:nvSpPr>
        <p:spPr>
          <a:xfrm rot="0">
            <a:off x="1463040" y="2474023"/>
            <a:ext cx="5594156" cy="366379"/>
          </a:xfrm>
          <a:prstGeom prst="rect">
            <a:avLst/>
          </a:prstGeom>
        </p:spPr>
        <p:txBody>
          <a:bodyPr anchor="t" rtlCol="false" tIns="0" lIns="0" bIns="0" rIns="0">
            <a:spAutoFit/>
          </a:bodyPr>
          <a:lstStyle/>
          <a:p>
            <a:pPr algn="l">
              <a:lnSpc>
                <a:spcPts val="1428"/>
              </a:lnSpc>
            </a:pPr>
            <a:r>
              <a:rPr lang="en-US" sz="1301" spc="-2">
                <a:solidFill>
                  <a:srgbClr val="262626"/>
                </a:solidFill>
                <a:latin typeface="IBM Plex Sans Condensed"/>
                <a:ea typeface="IBM Plex Sans Condensed"/>
                <a:cs typeface="IBM Plex Sans Condensed"/>
                <a:sym typeface="IBM Plex Sans Condensed"/>
              </a:rPr>
              <a:t>Smart IoT System for Real-Time Worker Safety Monitoring in Dead Zones (IEEE, 2025)</a:t>
            </a:r>
          </a:p>
        </p:txBody>
      </p:sp>
      <p:sp>
        <p:nvSpPr>
          <p:cNvPr name="TextBox 20" id="20"/>
          <p:cNvSpPr txBox="true"/>
          <p:nvPr/>
        </p:nvSpPr>
        <p:spPr>
          <a:xfrm rot="0">
            <a:off x="1463040" y="3166301"/>
            <a:ext cx="5465731" cy="366379"/>
          </a:xfrm>
          <a:prstGeom prst="rect">
            <a:avLst/>
          </a:prstGeom>
        </p:spPr>
        <p:txBody>
          <a:bodyPr anchor="t" rtlCol="false" tIns="0" lIns="0" bIns="0" rIns="0">
            <a:spAutoFit/>
          </a:bodyPr>
          <a:lstStyle/>
          <a:p>
            <a:pPr algn="l">
              <a:lnSpc>
                <a:spcPts val="1428"/>
              </a:lnSpc>
            </a:pPr>
            <a:r>
              <a:rPr lang="en-US" sz="1301" spc="-2">
                <a:solidFill>
                  <a:srgbClr val="262626"/>
                </a:solidFill>
                <a:latin typeface="IBM Plex Sans Condensed"/>
                <a:ea typeface="IBM Plex Sans Condensed"/>
                <a:cs typeface="IBM Plex Sans Condensed"/>
                <a:sym typeface="IBM Plex Sans Condensed"/>
              </a:rPr>
              <a:t>Comprehensive IoT-Based Monitoring System for Worker's Health and Safety in High-Risk Environments (IEEE, 2024)</a:t>
            </a:r>
          </a:p>
        </p:txBody>
      </p:sp>
      <p:sp>
        <p:nvSpPr>
          <p:cNvPr name="TextBox 21" id="21"/>
          <p:cNvSpPr txBox="true"/>
          <p:nvPr/>
        </p:nvSpPr>
        <p:spPr>
          <a:xfrm rot="0">
            <a:off x="1463040" y="3911203"/>
            <a:ext cx="5626856" cy="223037"/>
          </a:xfrm>
          <a:prstGeom prst="rect">
            <a:avLst/>
          </a:prstGeom>
        </p:spPr>
        <p:txBody>
          <a:bodyPr anchor="t" rtlCol="false" tIns="0" lIns="0" bIns="0" rIns="0">
            <a:spAutoFit/>
          </a:bodyPr>
          <a:lstStyle/>
          <a:p>
            <a:pPr algn="l">
              <a:lnSpc>
                <a:spcPts val="1821"/>
              </a:lnSpc>
            </a:pPr>
            <a:r>
              <a:rPr lang="en-US" sz="1301" spc="-2">
                <a:solidFill>
                  <a:srgbClr val="262626"/>
                </a:solidFill>
                <a:latin typeface="IBM Plex Sans Condensed"/>
                <a:ea typeface="IBM Plex Sans Condensed"/>
                <a:cs typeface="IBM Plex Sans Condensed"/>
                <a:sym typeface="IBM Plex Sans Condensed"/>
              </a:rPr>
              <a:t>Shah, I.A. &amp; Mishra, S. — AI in Advancing Occupational Health and Safety (2024)</a:t>
            </a:r>
          </a:p>
        </p:txBody>
      </p:sp>
      <p:sp>
        <p:nvSpPr>
          <p:cNvPr name="TextBox 22" id="22"/>
          <p:cNvSpPr txBox="true"/>
          <p:nvPr/>
        </p:nvSpPr>
        <p:spPr>
          <a:xfrm rot="0">
            <a:off x="1463040" y="4550864"/>
            <a:ext cx="5526910" cy="366379"/>
          </a:xfrm>
          <a:prstGeom prst="rect">
            <a:avLst/>
          </a:prstGeom>
        </p:spPr>
        <p:txBody>
          <a:bodyPr anchor="t" rtlCol="false" tIns="0" lIns="0" bIns="0" rIns="0">
            <a:spAutoFit/>
          </a:bodyPr>
          <a:lstStyle/>
          <a:p>
            <a:pPr algn="l">
              <a:lnSpc>
                <a:spcPts val="1428"/>
              </a:lnSpc>
            </a:pPr>
            <a:r>
              <a:rPr lang="en-US" sz="1301" spc="-2">
                <a:solidFill>
                  <a:srgbClr val="262626"/>
                </a:solidFill>
                <a:latin typeface="IBM Plex Sans Condensed"/>
                <a:ea typeface="IBM Plex Sans Condensed"/>
                <a:cs typeface="IBM Plex Sans Condensed"/>
                <a:sym typeface="IBM Plex Sans Condensed"/>
              </a:rPr>
              <a:t>IoT-Enhanced Workplace Safety for Real-Time Monitoring and Hazard Detection (IEEE, 2024)</a:t>
            </a:r>
          </a:p>
        </p:txBody>
      </p:sp>
      <p:sp>
        <p:nvSpPr>
          <p:cNvPr name="TextBox 23" id="23"/>
          <p:cNvSpPr txBox="true"/>
          <p:nvPr/>
        </p:nvSpPr>
        <p:spPr>
          <a:xfrm rot="0">
            <a:off x="1463040" y="5295757"/>
            <a:ext cx="5210556" cy="223037"/>
          </a:xfrm>
          <a:prstGeom prst="rect">
            <a:avLst/>
          </a:prstGeom>
        </p:spPr>
        <p:txBody>
          <a:bodyPr anchor="t" rtlCol="false" tIns="0" lIns="0" bIns="0" rIns="0">
            <a:spAutoFit/>
          </a:bodyPr>
          <a:lstStyle/>
          <a:p>
            <a:pPr algn="l">
              <a:lnSpc>
                <a:spcPts val="1821"/>
              </a:lnSpc>
            </a:pPr>
            <a:r>
              <a:rPr lang="en-US" sz="1301" spc="-2">
                <a:solidFill>
                  <a:srgbClr val="262626"/>
                </a:solidFill>
                <a:latin typeface="IBM Plex Sans Condensed"/>
                <a:ea typeface="IBM Plex Sans Condensed"/>
                <a:cs typeface="IBM Plex Sans Condensed"/>
                <a:sym typeface="IBM Plex Sans Condensed"/>
              </a:rPr>
              <a:t>IoT Based Wearable Device for Workers in Industrial Scenarios (IEEE, 2023)</a:t>
            </a:r>
          </a:p>
        </p:txBody>
      </p:sp>
      <p:sp>
        <p:nvSpPr>
          <p:cNvPr name="TextBox 24" id="24"/>
          <p:cNvSpPr txBox="true"/>
          <p:nvPr/>
        </p:nvSpPr>
        <p:spPr>
          <a:xfrm rot="0">
            <a:off x="1463040" y="5935418"/>
            <a:ext cx="5671185" cy="366379"/>
          </a:xfrm>
          <a:prstGeom prst="rect">
            <a:avLst/>
          </a:prstGeom>
        </p:spPr>
        <p:txBody>
          <a:bodyPr anchor="t" rtlCol="false" tIns="0" lIns="0" bIns="0" rIns="0">
            <a:spAutoFit/>
          </a:bodyPr>
          <a:lstStyle/>
          <a:p>
            <a:pPr algn="l">
              <a:lnSpc>
                <a:spcPts val="1428"/>
              </a:lnSpc>
            </a:pPr>
            <a:r>
              <a:rPr lang="en-US" sz="1301" spc="-2">
                <a:solidFill>
                  <a:srgbClr val="262626"/>
                </a:solidFill>
                <a:latin typeface="IBM Plex Sans Condensed"/>
                <a:ea typeface="IBM Plex Sans Condensed"/>
                <a:cs typeface="IBM Plex Sans Condensed"/>
                <a:sym typeface="IBM Plex Sans Condensed"/>
              </a:rPr>
              <a:t>IoT based Smart Bracelet for Worker Safety and Health Monitoring (IWAIIP, IEEE, 2023)</a:t>
            </a:r>
          </a:p>
        </p:txBody>
      </p:sp>
      <p:sp>
        <p:nvSpPr>
          <p:cNvPr name="TextBox 25" id="25"/>
          <p:cNvSpPr txBox="true"/>
          <p:nvPr/>
        </p:nvSpPr>
        <p:spPr>
          <a:xfrm rot="0">
            <a:off x="7315200" y="2474023"/>
            <a:ext cx="4073042" cy="366379"/>
          </a:xfrm>
          <a:prstGeom prst="rect">
            <a:avLst/>
          </a:prstGeom>
        </p:spPr>
        <p:txBody>
          <a:bodyPr anchor="t" rtlCol="false" tIns="0" lIns="0" bIns="0" rIns="0">
            <a:spAutoFit/>
          </a:bodyPr>
          <a:lstStyle/>
          <a:p>
            <a:pPr algn="l">
              <a:lnSpc>
                <a:spcPts val="1428"/>
              </a:lnSpc>
            </a:pPr>
            <a:r>
              <a:rPr lang="en-US" sz="1301" spc="-2">
                <a:solidFill>
                  <a:srgbClr val="262626"/>
                </a:solidFill>
                <a:latin typeface="IBM Plex Sans Condensed"/>
                <a:ea typeface="IBM Plex Sans Condensed"/>
                <a:cs typeface="IBM Plex Sans Condensed"/>
                <a:sym typeface="IBM Plex Sans Condensed"/>
              </a:rPr>
              <a:t>Wearable sensors with ML-based fall detection and location tracking in connectivity-limited zones.</a:t>
            </a:r>
          </a:p>
        </p:txBody>
      </p:sp>
      <p:sp>
        <p:nvSpPr>
          <p:cNvPr name="TextBox 26" id="26"/>
          <p:cNvSpPr txBox="true"/>
          <p:nvPr/>
        </p:nvSpPr>
        <p:spPr>
          <a:xfrm rot="0">
            <a:off x="7315200" y="3166301"/>
            <a:ext cx="4068328" cy="366379"/>
          </a:xfrm>
          <a:prstGeom prst="rect">
            <a:avLst/>
          </a:prstGeom>
        </p:spPr>
        <p:txBody>
          <a:bodyPr anchor="t" rtlCol="false" tIns="0" lIns="0" bIns="0" rIns="0">
            <a:spAutoFit/>
          </a:bodyPr>
          <a:lstStyle/>
          <a:p>
            <a:pPr algn="l">
              <a:lnSpc>
                <a:spcPts val="1428"/>
              </a:lnSpc>
            </a:pPr>
            <a:r>
              <a:rPr lang="en-US" sz="1301" spc="-2">
                <a:solidFill>
                  <a:srgbClr val="262626"/>
                </a:solidFill>
                <a:latin typeface="IBM Plex Sans Condensed"/>
                <a:ea typeface="IBM Plex Sans Condensed"/>
                <a:cs typeface="IBM Plex Sans Condensed"/>
                <a:sym typeface="IBM Plex Sans Condensed"/>
              </a:rPr>
              <a:t>Real-time SpO2, heart rate, gas and temperature monitoring with dashboard alerts.</a:t>
            </a:r>
          </a:p>
        </p:txBody>
      </p:sp>
      <p:sp>
        <p:nvSpPr>
          <p:cNvPr name="TextBox 27" id="27"/>
          <p:cNvSpPr txBox="true"/>
          <p:nvPr/>
        </p:nvSpPr>
        <p:spPr>
          <a:xfrm rot="0">
            <a:off x="7315200" y="3858587"/>
            <a:ext cx="4262485" cy="366370"/>
          </a:xfrm>
          <a:prstGeom prst="rect">
            <a:avLst/>
          </a:prstGeom>
        </p:spPr>
        <p:txBody>
          <a:bodyPr anchor="t" rtlCol="false" tIns="0" lIns="0" bIns="0" rIns="0">
            <a:spAutoFit/>
          </a:bodyPr>
          <a:lstStyle/>
          <a:p>
            <a:pPr algn="l">
              <a:lnSpc>
                <a:spcPts val="1428"/>
              </a:lnSpc>
            </a:pPr>
            <a:r>
              <a:rPr lang="en-US" sz="1301" spc="-2">
                <a:solidFill>
                  <a:srgbClr val="262626"/>
                </a:solidFill>
                <a:latin typeface="IBM Plex Sans Condensed"/>
                <a:ea typeface="IBM Plex Sans Condensed"/>
                <a:cs typeface="IBM Plex Sans Condensed"/>
                <a:sym typeface="IBM Plex Sans Condensed"/>
              </a:rPr>
              <a:t>Reviews how AI/ML predicts and prevents workplace hazards, improving OHS decisions.</a:t>
            </a:r>
          </a:p>
        </p:txBody>
      </p:sp>
      <p:sp>
        <p:nvSpPr>
          <p:cNvPr name="TextBox 28" id="28"/>
          <p:cNvSpPr txBox="true"/>
          <p:nvPr/>
        </p:nvSpPr>
        <p:spPr>
          <a:xfrm rot="0">
            <a:off x="7315200" y="4550864"/>
            <a:ext cx="4108094" cy="366379"/>
          </a:xfrm>
          <a:prstGeom prst="rect">
            <a:avLst/>
          </a:prstGeom>
        </p:spPr>
        <p:txBody>
          <a:bodyPr anchor="t" rtlCol="false" tIns="0" lIns="0" bIns="0" rIns="0">
            <a:spAutoFit/>
          </a:bodyPr>
          <a:lstStyle/>
          <a:p>
            <a:pPr algn="l">
              <a:lnSpc>
                <a:spcPts val="1428"/>
              </a:lnSpc>
            </a:pPr>
            <a:r>
              <a:rPr lang="en-US" sz="1301" spc="-2">
                <a:solidFill>
                  <a:srgbClr val="262626"/>
                </a:solidFill>
                <a:latin typeface="IBM Plex Sans Condensed"/>
                <a:ea typeface="IBM Plex Sans Condensed"/>
                <a:cs typeface="IBM Plex Sans Condensed"/>
                <a:sym typeface="IBM Plex Sans Condensed"/>
              </a:rPr>
              <a:t>Sensor network architecture for environmental and wearable monitoring with hazard analytics.</a:t>
            </a:r>
          </a:p>
        </p:txBody>
      </p:sp>
      <p:sp>
        <p:nvSpPr>
          <p:cNvPr name="TextBox 29" id="29"/>
          <p:cNvSpPr txBox="true"/>
          <p:nvPr/>
        </p:nvSpPr>
        <p:spPr>
          <a:xfrm rot="0">
            <a:off x="7315200" y="5243141"/>
            <a:ext cx="4287431" cy="366379"/>
          </a:xfrm>
          <a:prstGeom prst="rect">
            <a:avLst/>
          </a:prstGeom>
        </p:spPr>
        <p:txBody>
          <a:bodyPr anchor="t" rtlCol="false" tIns="0" lIns="0" bIns="0" rIns="0">
            <a:spAutoFit/>
          </a:bodyPr>
          <a:lstStyle/>
          <a:p>
            <a:pPr algn="l">
              <a:lnSpc>
                <a:spcPts val="1428"/>
              </a:lnSpc>
            </a:pPr>
            <a:r>
              <a:rPr lang="en-US" sz="1301" spc="-2">
                <a:solidFill>
                  <a:srgbClr val="262626"/>
                </a:solidFill>
                <a:latin typeface="IBM Plex Sans Condensed"/>
                <a:ea typeface="IBM Plex Sans Condensed"/>
                <a:cs typeface="IBM Plex Sans Condensed"/>
                <a:sym typeface="IBM Plex Sans Condensed"/>
              </a:rPr>
              <a:t>ESP-32 based wearable tracking gas exposure, pulse rate, body temperature and emergency alerts.</a:t>
            </a:r>
          </a:p>
        </p:txBody>
      </p:sp>
      <p:sp>
        <p:nvSpPr>
          <p:cNvPr name="TextBox 30" id="30"/>
          <p:cNvSpPr txBox="true"/>
          <p:nvPr/>
        </p:nvSpPr>
        <p:spPr>
          <a:xfrm rot="0">
            <a:off x="7315200" y="5935418"/>
            <a:ext cx="3750278" cy="366379"/>
          </a:xfrm>
          <a:prstGeom prst="rect">
            <a:avLst/>
          </a:prstGeom>
        </p:spPr>
        <p:txBody>
          <a:bodyPr anchor="t" rtlCol="false" tIns="0" lIns="0" bIns="0" rIns="0">
            <a:spAutoFit/>
          </a:bodyPr>
          <a:lstStyle/>
          <a:p>
            <a:pPr algn="l">
              <a:lnSpc>
                <a:spcPts val="1428"/>
              </a:lnSpc>
            </a:pPr>
            <a:r>
              <a:rPr lang="en-US" sz="1301" spc="-2">
                <a:solidFill>
                  <a:srgbClr val="262626"/>
                </a:solidFill>
                <a:latin typeface="IBM Plex Sans Condensed"/>
                <a:ea typeface="IBM Plex Sans Condensed"/>
                <a:cs typeface="IBM Plex Sans Condensed"/>
                <a:sym typeface="IBM Plex Sans Condensed"/>
              </a:rPr>
              <a:t>Accelerometer-based vibration monitoring for machine operators with mobile/web notifications.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288579" y="1668828"/>
            <a:ext cx="3747887" cy="4342228"/>
          </a:xfrm>
          <a:custGeom>
            <a:avLst/>
            <a:gdLst/>
            <a:ahLst/>
            <a:cxnLst/>
            <a:rect r="r" b="b" t="t" l="l"/>
            <a:pathLst>
              <a:path h="4342228" w="3747887">
                <a:moveTo>
                  <a:pt x="0" y="0"/>
                </a:moveTo>
                <a:lnTo>
                  <a:pt x="3747887" y="0"/>
                </a:lnTo>
                <a:lnTo>
                  <a:pt x="3747887" y="4342228"/>
                </a:lnTo>
                <a:lnTo>
                  <a:pt x="0" y="43422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4220499" y="1668828"/>
            <a:ext cx="3747887" cy="4342228"/>
          </a:xfrm>
          <a:custGeom>
            <a:avLst/>
            <a:gdLst/>
            <a:ahLst/>
            <a:cxnLst/>
            <a:rect r="r" b="b" t="t" l="l"/>
            <a:pathLst>
              <a:path h="4342228" w="3747887">
                <a:moveTo>
                  <a:pt x="0" y="0"/>
                </a:moveTo>
                <a:lnTo>
                  <a:pt x="3747887" y="0"/>
                </a:lnTo>
                <a:lnTo>
                  <a:pt x="3747887" y="4342228"/>
                </a:lnTo>
                <a:lnTo>
                  <a:pt x="0" y="43422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8152419" y="1668828"/>
            <a:ext cx="3747887" cy="4342228"/>
          </a:xfrm>
          <a:custGeom>
            <a:avLst/>
            <a:gdLst/>
            <a:ahLst/>
            <a:cxnLst/>
            <a:rect r="r" b="b" t="t" l="l"/>
            <a:pathLst>
              <a:path h="4342228" w="3747887">
                <a:moveTo>
                  <a:pt x="0" y="0"/>
                </a:moveTo>
                <a:lnTo>
                  <a:pt x="3747887" y="0"/>
                </a:lnTo>
                <a:lnTo>
                  <a:pt x="3747887" y="4342228"/>
                </a:lnTo>
                <a:lnTo>
                  <a:pt x="0" y="43422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11761556" y="6508404"/>
            <a:ext cx="64808"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8</a:t>
            </a:r>
          </a:p>
        </p:txBody>
      </p:sp>
      <p:sp>
        <p:nvSpPr>
          <p:cNvPr name="TextBox 11" id="11"/>
          <p:cNvSpPr txBox="true"/>
          <p:nvPr/>
        </p:nvSpPr>
        <p:spPr>
          <a:xfrm rot="0">
            <a:off x="455400" y="1001039"/>
            <a:ext cx="5107105" cy="574643"/>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Proposed System / Solution</a:t>
            </a:r>
          </a:p>
        </p:txBody>
      </p:sp>
      <p:sp>
        <p:nvSpPr>
          <p:cNvPr name="TextBox 12" id="12"/>
          <p:cNvSpPr txBox="true"/>
          <p:nvPr/>
        </p:nvSpPr>
        <p:spPr>
          <a:xfrm rot="0">
            <a:off x="1691288" y="2011299"/>
            <a:ext cx="61503" cy="321955"/>
          </a:xfrm>
          <a:prstGeom prst="rect">
            <a:avLst/>
          </a:prstGeom>
        </p:spPr>
        <p:txBody>
          <a:bodyPr anchor="t" rtlCol="false" tIns="0" lIns="0" bIns="0" rIns="0">
            <a:spAutoFit/>
          </a:bodyPr>
          <a:lstStyle/>
          <a:p>
            <a:pPr algn="l">
              <a:lnSpc>
                <a:spcPts val="2658"/>
              </a:lnSpc>
            </a:pPr>
            <a:r>
              <a:rPr lang="en-US" b="true" sz="1899" spc="-11">
                <a:solidFill>
                  <a:srgbClr val="262626"/>
                </a:solidFill>
                <a:latin typeface="Montserrat Bold"/>
                <a:ea typeface="Montserrat Bold"/>
                <a:cs typeface="Montserrat Bold"/>
                <a:sym typeface="Montserrat Bold"/>
              </a:rPr>
              <a:t> </a:t>
            </a:r>
          </a:p>
        </p:txBody>
      </p:sp>
      <p:sp>
        <p:nvSpPr>
          <p:cNvPr name="TextBox 13" id="13"/>
          <p:cNvSpPr txBox="true"/>
          <p:nvPr/>
        </p:nvSpPr>
        <p:spPr>
          <a:xfrm rot="0">
            <a:off x="675361" y="2049399"/>
            <a:ext cx="2241509" cy="800100"/>
          </a:xfrm>
          <a:prstGeom prst="rect">
            <a:avLst/>
          </a:prstGeom>
        </p:spPr>
        <p:txBody>
          <a:bodyPr anchor="t" rtlCol="false" tIns="0" lIns="0" bIns="0" rIns="0">
            <a:spAutoFit/>
          </a:bodyPr>
          <a:lstStyle/>
          <a:p>
            <a:pPr algn="l">
              <a:lnSpc>
                <a:spcPts val="2159"/>
              </a:lnSpc>
            </a:pPr>
            <a:r>
              <a:rPr lang="en-US" b="true" sz="1799" spc="-10">
                <a:solidFill>
                  <a:srgbClr val="262626"/>
                </a:solidFill>
                <a:latin typeface="Montserrat Bold"/>
                <a:ea typeface="Montserrat Bold"/>
                <a:cs typeface="Montserrat Bold"/>
                <a:sym typeface="Montserrat Bold"/>
              </a:rPr>
              <a:t>Employee&amp; Health Management Module</a:t>
            </a:r>
          </a:p>
        </p:txBody>
      </p:sp>
      <p:sp>
        <p:nvSpPr>
          <p:cNvPr name="TextBox 14" id="14"/>
          <p:cNvSpPr txBox="true"/>
          <p:nvPr/>
        </p:nvSpPr>
        <p:spPr>
          <a:xfrm rot="0">
            <a:off x="4607281" y="2049399"/>
            <a:ext cx="1649578" cy="573300"/>
          </a:xfrm>
          <a:prstGeom prst="rect">
            <a:avLst/>
          </a:prstGeom>
        </p:spPr>
        <p:txBody>
          <a:bodyPr anchor="t" rtlCol="false" tIns="0" lIns="0" bIns="0" rIns="0">
            <a:spAutoFit/>
          </a:bodyPr>
          <a:lstStyle/>
          <a:p>
            <a:pPr algn="l">
              <a:lnSpc>
                <a:spcPts val="2279"/>
              </a:lnSpc>
            </a:pPr>
            <a:r>
              <a:rPr lang="en-US" b="true" sz="1899" spc="-11">
                <a:solidFill>
                  <a:srgbClr val="262626"/>
                </a:solidFill>
                <a:latin typeface="Montserrat Bold"/>
                <a:ea typeface="Montserrat Bold"/>
                <a:cs typeface="Montserrat Bold"/>
                <a:sym typeface="Montserrat Bold"/>
              </a:rPr>
              <a:t>HazardZone &amp; Alert Module</a:t>
            </a:r>
          </a:p>
        </p:txBody>
      </p:sp>
      <p:sp>
        <p:nvSpPr>
          <p:cNvPr name="TextBox 15" id="15"/>
          <p:cNvSpPr txBox="true"/>
          <p:nvPr/>
        </p:nvSpPr>
        <p:spPr>
          <a:xfrm rot="0">
            <a:off x="8539201" y="2049399"/>
            <a:ext cx="2119236" cy="573300"/>
          </a:xfrm>
          <a:prstGeom prst="rect">
            <a:avLst/>
          </a:prstGeom>
        </p:spPr>
        <p:txBody>
          <a:bodyPr anchor="t" rtlCol="false" tIns="0" lIns="0" bIns="0" rIns="0">
            <a:spAutoFit/>
          </a:bodyPr>
          <a:lstStyle/>
          <a:p>
            <a:pPr algn="l">
              <a:lnSpc>
                <a:spcPts val="2279"/>
              </a:lnSpc>
            </a:pPr>
            <a:r>
              <a:rPr lang="en-US" b="true" sz="1899" spc="-11">
                <a:solidFill>
                  <a:srgbClr val="262626"/>
                </a:solidFill>
                <a:latin typeface="Montserrat Bold"/>
                <a:ea typeface="Montserrat Bold"/>
                <a:cs typeface="Montserrat Bold"/>
                <a:sym typeface="Montserrat Bold"/>
              </a:rPr>
              <a:t>Incident &amp; Compliance Module</a:t>
            </a:r>
          </a:p>
        </p:txBody>
      </p:sp>
      <p:sp>
        <p:nvSpPr>
          <p:cNvPr name="TextBox 16" id="16"/>
          <p:cNvSpPr txBox="true"/>
          <p:nvPr/>
        </p:nvSpPr>
        <p:spPr>
          <a:xfrm rot="0">
            <a:off x="675361" y="3054696"/>
            <a:ext cx="2864920" cy="1815099"/>
          </a:xfrm>
          <a:prstGeom prst="rect">
            <a:avLst/>
          </a:prstGeom>
        </p:spPr>
        <p:txBody>
          <a:bodyPr anchor="t" rtlCol="false" tIns="0" lIns="0" bIns="0" rIns="0">
            <a:spAutoFit/>
          </a:bodyPr>
          <a:lstStyle/>
          <a:p>
            <a:pPr algn="l">
              <a:lnSpc>
                <a:spcPts val="2447"/>
              </a:lnSpc>
            </a:pPr>
            <a:r>
              <a:rPr lang="en-US" sz="1699" spc="-3">
                <a:solidFill>
                  <a:srgbClr val="595959"/>
                </a:solidFill>
                <a:latin typeface="IBM Plex Sans Condensed"/>
                <a:ea typeface="IBM Plex Sans Condensed"/>
                <a:cs typeface="IBM Plex Sans Condensed"/>
                <a:sym typeface="IBM Plex Sans Condensed"/>
              </a:rPr>
              <a:t>Stores employee profiles, health records, and training/certification status, using OOP principles such as classes, inheritance, and encapsulation.</a:t>
            </a:r>
          </a:p>
        </p:txBody>
      </p:sp>
      <p:sp>
        <p:nvSpPr>
          <p:cNvPr name="TextBox 17" id="17"/>
          <p:cNvSpPr txBox="true"/>
          <p:nvPr/>
        </p:nvSpPr>
        <p:spPr>
          <a:xfrm rot="0">
            <a:off x="4607281" y="3054696"/>
            <a:ext cx="3039742" cy="1510299"/>
          </a:xfrm>
          <a:prstGeom prst="rect">
            <a:avLst/>
          </a:prstGeom>
        </p:spPr>
        <p:txBody>
          <a:bodyPr anchor="t" rtlCol="false" tIns="0" lIns="0" bIns="0" rIns="0">
            <a:spAutoFit/>
          </a:bodyPr>
          <a:lstStyle/>
          <a:p>
            <a:pPr algn="l">
              <a:lnSpc>
                <a:spcPts val="2447"/>
              </a:lnSpc>
            </a:pPr>
            <a:r>
              <a:rPr lang="en-US" sz="1699" spc="-3">
                <a:solidFill>
                  <a:srgbClr val="595959"/>
                </a:solidFill>
                <a:latin typeface="IBM Plex Sans Condensed"/>
                <a:ea typeface="IBM Plex Sans Condensed"/>
                <a:cs typeface="IBM Plex Sans Condensed"/>
                <a:sym typeface="IBM Plex Sans Condensed"/>
              </a:rPr>
              <a:t>Models zones with risk levels, links sensor data to affected employees, and automatically raises real-time alerts when thresholds are breached.</a:t>
            </a:r>
          </a:p>
        </p:txBody>
      </p:sp>
      <p:sp>
        <p:nvSpPr>
          <p:cNvPr name="TextBox 18" id="18"/>
          <p:cNvSpPr txBox="true"/>
          <p:nvPr/>
        </p:nvSpPr>
        <p:spPr>
          <a:xfrm rot="0">
            <a:off x="8539201" y="3054696"/>
            <a:ext cx="2887847" cy="1510299"/>
          </a:xfrm>
          <a:prstGeom prst="rect">
            <a:avLst/>
          </a:prstGeom>
        </p:spPr>
        <p:txBody>
          <a:bodyPr anchor="t" rtlCol="false" tIns="0" lIns="0" bIns="0" rIns="0">
            <a:spAutoFit/>
          </a:bodyPr>
          <a:lstStyle/>
          <a:p>
            <a:pPr algn="l">
              <a:lnSpc>
                <a:spcPts val="2447"/>
              </a:lnSpc>
            </a:pPr>
            <a:r>
              <a:rPr lang="en-US" sz="1699" spc="-3">
                <a:solidFill>
                  <a:srgbClr val="595959"/>
                </a:solidFill>
                <a:latin typeface="IBM Plex Sans Condensed"/>
                <a:ea typeface="IBM Plex Sans Condensed"/>
                <a:cs typeface="IBM Plex Sans Condensed"/>
                <a:sym typeface="IBM Plex Sans Condensed"/>
              </a:rPr>
              <a:t>Digitizes incident / near-miss reporting with severity classification and tracks PPE issuance and compliance status per employee.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297580" y="1532020"/>
            <a:ext cx="5681805" cy="1461887"/>
          </a:xfrm>
          <a:custGeom>
            <a:avLst/>
            <a:gdLst/>
            <a:ahLst/>
            <a:cxnLst/>
            <a:rect r="r" b="b" t="t" l="l"/>
            <a:pathLst>
              <a:path h="1461887" w="5681805">
                <a:moveTo>
                  <a:pt x="0" y="0"/>
                </a:moveTo>
                <a:lnTo>
                  <a:pt x="5681805" y="0"/>
                </a:lnTo>
                <a:lnTo>
                  <a:pt x="5681805" y="1461888"/>
                </a:lnTo>
                <a:lnTo>
                  <a:pt x="0" y="14618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329565" y="3086500"/>
            <a:ext cx="5681805" cy="1461887"/>
          </a:xfrm>
          <a:custGeom>
            <a:avLst/>
            <a:gdLst/>
            <a:ahLst/>
            <a:cxnLst/>
            <a:rect r="r" b="b" t="t" l="l"/>
            <a:pathLst>
              <a:path h="1461887" w="5681805">
                <a:moveTo>
                  <a:pt x="0" y="0"/>
                </a:moveTo>
                <a:lnTo>
                  <a:pt x="5681805" y="0"/>
                </a:lnTo>
                <a:lnTo>
                  <a:pt x="5681805" y="1461888"/>
                </a:lnTo>
                <a:lnTo>
                  <a:pt x="0" y="1461888"/>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97580" y="4640980"/>
            <a:ext cx="5681805" cy="1461887"/>
          </a:xfrm>
          <a:custGeom>
            <a:avLst/>
            <a:gdLst/>
            <a:ahLst/>
            <a:cxnLst/>
            <a:rect r="r" b="b" t="t" l="l"/>
            <a:pathLst>
              <a:path h="1461887" w="5681805">
                <a:moveTo>
                  <a:pt x="0" y="0"/>
                </a:moveTo>
                <a:lnTo>
                  <a:pt x="5681805" y="0"/>
                </a:lnTo>
                <a:lnTo>
                  <a:pt x="5681805" y="1461888"/>
                </a:lnTo>
                <a:lnTo>
                  <a:pt x="0" y="1461888"/>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6209138" y="1532020"/>
            <a:ext cx="5681805" cy="1461887"/>
          </a:xfrm>
          <a:custGeom>
            <a:avLst/>
            <a:gdLst/>
            <a:ahLst/>
            <a:cxnLst/>
            <a:rect r="r" b="b" t="t" l="l"/>
            <a:pathLst>
              <a:path h="1461887" w="5681805">
                <a:moveTo>
                  <a:pt x="0" y="0"/>
                </a:moveTo>
                <a:lnTo>
                  <a:pt x="5681805" y="0"/>
                </a:lnTo>
                <a:lnTo>
                  <a:pt x="5681805" y="1461888"/>
                </a:lnTo>
                <a:lnTo>
                  <a:pt x="0" y="1461888"/>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6209138" y="3086500"/>
            <a:ext cx="5681805" cy="1461887"/>
          </a:xfrm>
          <a:custGeom>
            <a:avLst/>
            <a:gdLst/>
            <a:ahLst/>
            <a:cxnLst/>
            <a:rect r="r" b="b" t="t" l="l"/>
            <a:pathLst>
              <a:path h="1461887" w="5681805">
                <a:moveTo>
                  <a:pt x="0" y="0"/>
                </a:moveTo>
                <a:lnTo>
                  <a:pt x="5681805" y="0"/>
                </a:lnTo>
                <a:lnTo>
                  <a:pt x="5681805" y="1461888"/>
                </a:lnTo>
                <a:lnTo>
                  <a:pt x="0" y="1461888"/>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6209138" y="4640980"/>
            <a:ext cx="5681805" cy="1461887"/>
          </a:xfrm>
          <a:custGeom>
            <a:avLst/>
            <a:gdLst/>
            <a:ahLst/>
            <a:cxnLst/>
            <a:rect r="r" b="b" t="t" l="l"/>
            <a:pathLst>
              <a:path h="1461887" w="5681805">
                <a:moveTo>
                  <a:pt x="0" y="0"/>
                </a:moveTo>
                <a:lnTo>
                  <a:pt x="5681805" y="0"/>
                </a:lnTo>
                <a:lnTo>
                  <a:pt x="5681805" y="1461888"/>
                </a:lnTo>
                <a:lnTo>
                  <a:pt x="0" y="1461888"/>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1761556" y="6508404"/>
            <a:ext cx="64808"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9</a:t>
            </a:r>
          </a:p>
        </p:txBody>
      </p:sp>
      <p:sp>
        <p:nvSpPr>
          <p:cNvPr name="TextBox 14" id="14"/>
          <p:cNvSpPr txBox="true"/>
          <p:nvPr/>
        </p:nvSpPr>
        <p:spPr>
          <a:xfrm rot="0">
            <a:off x="455400" y="1001039"/>
            <a:ext cx="3062945" cy="574643"/>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System Modules</a:t>
            </a:r>
          </a:p>
        </p:txBody>
      </p:sp>
      <p:sp>
        <p:nvSpPr>
          <p:cNvPr name="TextBox 15" id="15"/>
          <p:cNvSpPr txBox="true"/>
          <p:nvPr/>
        </p:nvSpPr>
        <p:spPr>
          <a:xfrm rot="0">
            <a:off x="730082" y="1778089"/>
            <a:ext cx="3000556" cy="282778"/>
          </a:xfrm>
          <a:prstGeom prst="rect">
            <a:avLst/>
          </a:prstGeom>
        </p:spPr>
        <p:txBody>
          <a:bodyPr anchor="t" rtlCol="false" tIns="0" lIns="0" bIns="0" rIns="0">
            <a:spAutoFit/>
          </a:bodyPr>
          <a:lstStyle/>
          <a:p>
            <a:pPr algn="l">
              <a:lnSpc>
                <a:spcPts val="2381"/>
              </a:lnSpc>
            </a:pPr>
            <a:r>
              <a:rPr lang="en-US" b="true" sz="1700" spc="-8">
                <a:solidFill>
                  <a:srgbClr val="262626"/>
                </a:solidFill>
                <a:latin typeface="Montserrat Bold"/>
                <a:ea typeface="Montserrat Bold"/>
                <a:cs typeface="Montserrat Bold"/>
                <a:sym typeface="Montserrat Bold"/>
              </a:rPr>
              <a:t>Employee Management Module</a:t>
            </a:r>
          </a:p>
        </p:txBody>
      </p:sp>
      <p:sp>
        <p:nvSpPr>
          <p:cNvPr name="TextBox 16" id="16"/>
          <p:cNvSpPr txBox="true"/>
          <p:nvPr/>
        </p:nvSpPr>
        <p:spPr>
          <a:xfrm rot="0">
            <a:off x="1080602" y="2212229"/>
            <a:ext cx="45349" cy="237868"/>
          </a:xfrm>
          <a:prstGeom prst="rect">
            <a:avLst/>
          </a:prstGeom>
        </p:spPr>
        <p:txBody>
          <a:bodyPr anchor="t" rtlCol="false" tIns="0" lIns="0" bIns="0" rIns="0">
            <a:spAutoFit/>
          </a:bodyPr>
          <a:lstStyle/>
          <a:p>
            <a:pPr algn="l">
              <a:lnSpc>
                <a:spcPts val="1960"/>
              </a:lnSpc>
            </a:pPr>
            <a:r>
              <a:rPr lang="en-US" sz="1400" spc="-2">
                <a:solidFill>
                  <a:srgbClr val="595959"/>
                </a:solidFill>
                <a:latin typeface="IBM Plex Sans Condensed"/>
                <a:ea typeface="IBM Plex Sans Condensed"/>
                <a:cs typeface="IBM Plex Sans Condensed"/>
                <a:sym typeface="IBM Plex Sans Condensed"/>
              </a:rPr>
              <a:t> </a:t>
            </a:r>
          </a:p>
        </p:txBody>
      </p:sp>
      <p:sp>
        <p:nvSpPr>
          <p:cNvPr name="TextBox 17" id="17"/>
          <p:cNvSpPr txBox="true"/>
          <p:nvPr/>
        </p:nvSpPr>
        <p:spPr>
          <a:xfrm rot="0">
            <a:off x="730082" y="3332569"/>
            <a:ext cx="3153461" cy="282778"/>
          </a:xfrm>
          <a:prstGeom prst="rect">
            <a:avLst/>
          </a:prstGeom>
        </p:spPr>
        <p:txBody>
          <a:bodyPr anchor="t" rtlCol="false" tIns="0" lIns="0" bIns="0" rIns="0">
            <a:spAutoFit/>
          </a:bodyPr>
          <a:lstStyle/>
          <a:p>
            <a:pPr algn="l">
              <a:lnSpc>
                <a:spcPts val="2381"/>
              </a:lnSpc>
            </a:pPr>
            <a:r>
              <a:rPr lang="en-US" b="true" sz="1700" spc="-8">
                <a:solidFill>
                  <a:srgbClr val="262626"/>
                </a:solidFill>
                <a:latin typeface="Montserrat Bold"/>
                <a:ea typeface="Montserrat Bold"/>
                <a:cs typeface="Montserrat Bold"/>
                <a:sym typeface="Montserrat Bold"/>
              </a:rPr>
              <a:t>Hazard Zone Monitoring Module</a:t>
            </a:r>
          </a:p>
        </p:txBody>
      </p:sp>
      <p:sp>
        <p:nvSpPr>
          <p:cNvPr name="TextBox 18" id="18"/>
          <p:cNvSpPr txBox="true"/>
          <p:nvPr/>
        </p:nvSpPr>
        <p:spPr>
          <a:xfrm rot="0">
            <a:off x="1420806" y="3766709"/>
            <a:ext cx="45349" cy="237868"/>
          </a:xfrm>
          <a:prstGeom prst="rect">
            <a:avLst/>
          </a:prstGeom>
        </p:spPr>
        <p:txBody>
          <a:bodyPr anchor="t" rtlCol="false" tIns="0" lIns="0" bIns="0" rIns="0">
            <a:spAutoFit/>
          </a:bodyPr>
          <a:lstStyle/>
          <a:p>
            <a:pPr algn="l">
              <a:lnSpc>
                <a:spcPts val="1960"/>
              </a:lnSpc>
            </a:pPr>
            <a:r>
              <a:rPr lang="en-US" sz="1400" spc="-2">
                <a:solidFill>
                  <a:srgbClr val="595959"/>
                </a:solidFill>
                <a:latin typeface="IBM Plex Sans Condensed"/>
                <a:ea typeface="IBM Plex Sans Condensed"/>
                <a:cs typeface="IBM Plex Sans Condensed"/>
                <a:sym typeface="IBM Plex Sans Condensed"/>
              </a:rPr>
              <a:t> </a:t>
            </a:r>
          </a:p>
        </p:txBody>
      </p:sp>
      <p:sp>
        <p:nvSpPr>
          <p:cNvPr name="TextBox 19" id="19"/>
          <p:cNvSpPr txBox="true"/>
          <p:nvPr/>
        </p:nvSpPr>
        <p:spPr>
          <a:xfrm rot="0">
            <a:off x="730082" y="4887049"/>
            <a:ext cx="3519421" cy="282778"/>
          </a:xfrm>
          <a:prstGeom prst="rect">
            <a:avLst/>
          </a:prstGeom>
        </p:spPr>
        <p:txBody>
          <a:bodyPr anchor="t" rtlCol="false" tIns="0" lIns="0" bIns="0" rIns="0">
            <a:spAutoFit/>
          </a:bodyPr>
          <a:lstStyle/>
          <a:p>
            <a:pPr algn="l">
              <a:lnSpc>
                <a:spcPts val="2381"/>
              </a:lnSpc>
            </a:pPr>
            <a:r>
              <a:rPr lang="en-US" b="true" sz="1700" spc="-10">
                <a:solidFill>
                  <a:srgbClr val="262626"/>
                </a:solidFill>
                <a:latin typeface="Montserrat Bold"/>
                <a:ea typeface="Montserrat Bold"/>
                <a:cs typeface="Montserrat Bold"/>
                <a:sym typeface="Montserrat Bold"/>
              </a:rPr>
              <a:t>PPE &amp; Compliance Tracking Module</a:t>
            </a:r>
          </a:p>
        </p:txBody>
      </p:sp>
      <p:sp>
        <p:nvSpPr>
          <p:cNvPr name="TextBox 20" id="20"/>
          <p:cNvSpPr txBox="true"/>
          <p:nvPr/>
        </p:nvSpPr>
        <p:spPr>
          <a:xfrm rot="0">
            <a:off x="1207760" y="5321189"/>
            <a:ext cx="45349" cy="237868"/>
          </a:xfrm>
          <a:prstGeom prst="rect">
            <a:avLst/>
          </a:prstGeom>
        </p:spPr>
        <p:txBody>
          <a:bodyPr anchor="t" rtlCol="false" tIns="0" lIns="0" bIns="0" rIns="0">
            <a:spAutoFit/>
          </a:bodyPr>
          <a:lstStyle/>
          <a:p>
            <a:pPr algn="l">
              <a:lnSpc>
                <a:spcPts val="1960"/>
              </a:lnSpc>
            </a:pPr>
            <a:r>
              <a:rPr lang="en-US" sz="1400" spc="-2">
                <a:solidFill>
                  <a:srgbClr val="595959"/>
                </a:solidFill>
                <a:latin typeface="IBM Plex Sans Condensed"/>
                <a:ea typeface="IBM Plex Sans Condensed"/>
                <a:cs typeface="IBM Plex Sans Condensed"/>
                <a:sym typeface="IBM Plex Sans Condensed"/>
              </a:rPr>
              <a:t> </a:t>
            </a:r>
          </a:p>
        </p:txBody>
      </p:sp>
      <p:sp>
        <p:nvSpPr>
          <p:cNvPr name="TextBox 21" id="21"/>
          <p:cNvSpPr txBox="true"/>
          <p:nvPr/>
        </p:nvSpPr>
        <p:spPr>
          <a:xfrm rot="0">
            <a:off x="6641640" y="4887049"/>
            <a:ext cx="2676030" cy="282778"/>
          </a:xfrm>
          <a:prstGeom prst="rect">
            <a:avLst/>
          </a:prstGeom>
        </p:spPr>
        <p:txBody>
          <a:bodyPr anchor="t" rtlCol="false" tIns="0" lIns="0" bIns="0" rIns="0">
            <a:spAutoFit/>
          </a:bodyPr>
          <a:lstStyle/>
          <a:p>
            <a:pPr algn="l">
              <a:lnSpc>
                <a:spcPts val="2381"/>
              </a:lnSpc>
            </a:pPr>
            <a:r>
              <a:rPr lang="en-US" b="true" sz="1700" spc="-8">
                <a:solidFill>
                  <a:srgbClr val="262626"/>
                </a:solidFill>
                <a:latin typeface="Montserrat Bold"/>
                <a:ea typeface="Montserrat Bold"/>
                <a:cs typeface="Montserrat Bold"/>
                <a:sym typeface="Montserrat Bold"/>
              </a:rPr>
              <a:t>Alert &amp; Notification Module</a:t>
            </a:r>
          </a:p>
        </p:txBody>
      </p:sp>
      <p:sp>
        <p:nvSpPr>
          <p:cNvPr name="TextBox 22" id="22"/>
          <p:cNvSpPr txBox="true"/>
          <p:nvPr/>
        </p:nvSpPr>
        <p:spPr>
          <a:xfrm rot="0">
            <a:off x="7066321" y="5321189"/>
            <a:ext cx="45349" cy="237868"/>
          </a:xfrm>
          <a:prstGeom prst="rect">
            <a:avLst/>
          </a:prstGeom>
        </p:spPr>
        <p:txBody>
          <a:bodyPr anchor="t" rtlCol="false" tIns="0" lIns="0" bIns="0" rIns="0">
            <a:spAutoFit/>
          </a:bodyPr>
          <a:lstStyle/>
          <a:p>
            <a:pPr algn="l">
              <a:lnSpc>
                <a:spcPts val="1960"/>
              </a:lnSpc>
            </a:pPr>
            <a:r>
              <a:rPr lang="en-US" sz="1400" spc="-2">
                <a:solidFill>
                  <a:srgbClr val="595959"/>
                </a:solidFill>
                <a:latin typeface="IBM Plex Sans Condensed"/>
                <a:ea typeface="IBM Plex Sans Condensed"/>
                <a:cs typeface="IBM Plex Sans Condensed"/>
                <a:sym typeface="IBM Plex Sans Condensed"/>
              </a:rPr>
              <a:t> </a:t>
            </a:r>
          </a:p>
        </p:txBody>
      </p:sp>
      <p:sp>
        <p:nvSpPr>
          <p:cNvPr name="TextBox 23" id="23"/>
          <p:cNvSpPr txBox="true"/>
          <p:nvPr/>
        </p:nvSpPr>
        <p:spPr>
          <a:xfrm rot="0">
            <a:off x="6641640" y="1778089"/>
            <a:ext cx="3293593" cy="282778"/>
          </a:xfrm>
          <a:prstGeom prst="rect">
            <a:avLst/>
          </a:prstGeom>
        </p:spPr>
        <p:txBody>
          <a:bodyPr anchor="t" rtlCol="false" tIns="0" lIns="0" bIns="0" rIns="0">
            <a:spAutoFit/>
          </a:bodyPr>
          <a:lstStyle/>
          <a:p>
            <a:pPr algn="l">
              <a:lnSpc>
                <a:spcPts val="2381"/>
              </a:lnSpc>
            </a:pPr>
            <a:r>
              <a:rPr lang="en-US" b="true" sz="1700" spc="-8">
                <a:solidFill>
                  <a:srgbClr val="262626"/>
                </a:solidFill>
                <a:latin typeface="Montserrat Bold"/>
                <a:ea typeface="Montserrat Bold"/>
                <a:cs typeface="Montserrat Bold"/>
                <a:sym typeface="Montserrat Bold"/>
              </a:rPr>
              <a:t>Health &amp; Medical Records Module</a:t>
            </a:r>
          </a:p>
        </p:txBody>
      </p:sp>
      <p:sp>
        <p:nvSpPr>
          <p:cNvPr name="TextBox 24" id="24"/>
          <p:cNvSpPr txBox="true"/>
          <p:nvPr/>
        </p:nvSpPr>
        <p:spPr>
          <a:xfrm rot="0">
            <a:off x="7352281" y="2212229"/>
            <a:ext cx="45349" cy="237868"/>
          </a:xfrm>
          <a:prstGeom prst="rect">
            <a:avLst/>
          </a:prstGeom>
        </p:spPr>
        <p:txBody>
          <a:bodyPr anchor="t" rtlCol="false" tIns="0" lIns="0" bIns="0" rIns="0">
            <a:spAutoFit/>
          </a:bodyPr>
          <a:lstStyle/>
          <a:p>
            <a:pPr algn="l">
              <a:lnSpc>
                <a:spcPts val="1960"/>
              </a:lnSpc>
            </a:pPr>
            <a:r>
              <a:rPr lang="en-US" sz="1400" spc="-2">
                <a:solidFill>
                  <a:srgbClr val="595959"/>
                </a:solidFill>
                <a:latin typeface="IBM Plex Sans Condensed"/>
                <a:ea typeface="IBM Plex Sans Condensed"/>
                <a:cs typeface="IBM Plex Sans Condensed"/>
                <a:sym typeface="IBM Plex Sans Condensed"/>
              </a:rPr>
              <a:t> </a:t>
            </a:r>
          </a:p>
        </p:txBody>
      </p:sp>
      <p:sp>
        <p:nvSpPr>
          <p:cNvPr name="TextBox 25" id="25"/>
          <p:cNvSpPr txBox="true"/>
          <p:nvPr/>
        </p:nvSpPr>
        <p:spPr>
          <a:xfrm rot="0">
            <a:off x="6641640" y="3332569"/>
            <a:ext cx="3686423" cy="282778"/>
          </a:xfrm>
          <a:prstGeom prst="rect">
            <a:avLst/>
          </a:prstGeom>
        </p:spPr>
        <p:txBody>
          <a:bodyPr anchor="t" rtlCol="false" tIns="0" lIns="0" bIns="0" rIns="0">
            <a:spAutoFit/>
          </a:bodyPr>
          <a:lstStyle/>
          <a:p>
            <a:pPr algn="l">
              <a:lnSpc>
                <a:spcPts val="2381"/>
              </a:lnSpc>
            </a:pPr>
            <a:r>
              <a:rPr lang="en-US" b="true" sz="1700" spc="-10">
                <a:solidFill>
                  <a:srgbClr val="262626"/>
                </a:solidFill>
                <a:latin typeface="Montserrat Bold"/>
                <a:ea typeface="Montserrat Bold"/>
                <a:cs typeface="Montserrat Bold"/>
                <a:sym typeface="Montserrat Bold"/>
              </a:rPr>
              <a:t>Incident &amp; Accident Reporting Module</a:t>
            </a:r>
          </a:p>
        </p:txBody>
      </p:sp>
      <p:sp>
        <p:nvSpPr>
          <p:cNvPr name="TextBox 26" id="26"/>
          <p:cNvSpPr txBox="true"/>
          <p:nvPr/>
        </p:nvSpPr>
        <p:spPr>
          <a:xfrm rot="0">
            <a:off x="7224236" y="3766709"/>
            <a:ext cx="45349" cy="237868"/>
          </a:xfrm>
          <a:prstGeom prst="rect">
            <a:avLst/>
          </a:prstGeom>
        </p:spPr>
        <p:txBody>
          <a:bodyPr anchor="t" rtlCol="false" tIns="0" lIns="0" bIns="0" rIns="0">
            <a:spAutoFit/>
          </a:bodyPr>
          <a:lstStyle/>
          <a:p>
            <a:pPr algn="l">
              <a:lnSpc>
                <a:spcPts val="1960"/>
              </a:lnSpc>
            </a:pPr>
            <a:r>
              <a:rPr lang="en-US" sz="1400" spc="-2">
                <a:solidFill>
                  <a:srgbClr val="595959"/>
                </a:solidFill>
                <a:latin typeface="IBM Plex Sans Condensed"/>
                <a:ea typeface="IBM Plex Sans Condensed"/>
                <a:cs typeface="IBM Plex Sans Condensed"/>
                <a:sym typeface="IBM Plex Sans Condensed"/>
              </a:rPr>
              <a:t> </a:t>
            </a:r>
          </a:p>
        </p:txBody>
      </p:sp>
      <p:sp>
        <p:nvSpPr>
          <p:cNvPr name="TextBox 27" id="27"/>
          <p:cNvSpPr txBox="true"/>
          <p:nvPr/>
        </p:nvSpPr>
        <p:spPr>
          <a:xfrm rot="0">
            <a:off x="730082" y="5321189"/>
            <a:ext cx="4393387" cy="237868"/>
          </a:xfrm>
          <a:prstGeom prst="rect">
            <a:avLst/>
          </a:prstGeom>
        </p:spPr>
        <p:txBody>
          <a:bodyPr anchor="t" rtlCol="false" tIns="0" lIns="0" bIns="0" rIns="0">
            <a:spAutoFit/>
          </a:bodyPr>
          <a:lstStyle/>
          <a:p>
            <a:pPr algn="l">
              <a:lnSpc>
                <a:spcPts val="1960"/>
              </a:lnSpc>
            </a:pPr>
            <a:r>
              <a:rPr lang="en-US" sz="1400" spc="-2">
                <a:solidFill>
                  <a:srgbClr val="595959"/>
                </a:solidFill>
                <a:latin typeface="IBM Plex Sans Condensed"/>
                <a:ea typeface="IBM Plex Sans Condensed"/>
                <a:cs typeface="IBM Plex Sans Condensed"/>
                <a:sym typeface="IBM Plex Sans Condensed"/>
              </a:rPr>
              <a:t>Tracks</a:t>
            </a:r>
            <a:r>
              <a:rPr lang="en-US" sz="1400" spc="-2">
                <a:solidFill>
                  <a:srgbClr val="000000"/>
                </a:solidFill>
                <a:latin typeface="IBM Plex Sans Condensed"/>
                <a:ea typeface="IBM Plex Sans Condensed"/>
                <a:cs typeface="IBM Plex Sans Condensed"/>
                <a:sym typeface="IBM Plex Sans Condensed"/>
              </a:rPr>
              <a:t> </a:t>
            </a:r>
            <a:r>
              <a:rPr lang="en-US" sz="1400" spc="-2">
                <a:solidFill>
                  <a:srgbClr val="595959"/>
                </a:solidFill>
                <a:latin typeface="IBM Plex Sans Condensed"/>
                <a:ea typeface="IBM Plex Sans Condensed"/>
                <a:cs typeface="IBM Plex Sans Condensed"/>
                <a:sym typeface="IBM Plex Sans Condensed"/>
              </a:rPr>
              <a:t>safety</a:t>
            </a:r>
            <a:r>
              <a:rPr lang="en-US" sz="1400" spc="-2">
                <a:solidFill>
                  <a:srgbClr val="000000"/>
                </a:solidFill>
                <a:latin typeface="IBM Plex Sans Condensed"/>
                <a:ea typeface="IBM Plex Sans Condensed"/>
                <a:cs typeface="IBM Plex Sans Condensed"/>
                <a:sym typeface="IBM Plex Sans Condensed"/>
              </a:rPr>
              <a:t> </a:t>
            </a:r>
            <a:r>
              <a:rPr lang="en-US" sz="1400" spc="-2">
                <a:solidFill>
                  <a:srgbClr val="595959"/>
                </a:solidFill>
                <a:latin typeface="IBM Plex Sans Condensed"/>
                <a:ea typeface="IBM Plex Sans Condensed"/>
                <a:cs typeface="IBM Plex Sans Condensed"/>
                <a:sym typeface="IBM Plex Sans Condensed"/>
              </a:rPr>
              <a:t>equipment</a:t>
            </a:r>
            <a:r>
              <a:rPr lang="en-US" sz="1400" spc="-2">
                <a:solidFill>
                  <a:srgbClr val="000000"/>
                </a:solidFill>
                <a:latin typeface="IBM Plex Sans Condensed"/>
                <a:ea typeface="IBM Plex Sans Condensed"/>
                <a:cs typeface="IBM Plex Sans Condensed"/>
                <a:sym typeface="IBM Plex Sans Condensed"/>
              </a:rPr>
              <a:t> </a:t>
            </a:r>
            <a:r>
              <a:rPr lang="en-US" sz="1400" spc="-2">
                <a:solidFill>
                  <a:srgbClr val="595959"/>
                </a:solidFill>
                <a:latin typeface="IBM Plex Sans Condensed"/>
                <a:ea typeface="IBM Plex Sans Condensed"/>
                <a:cs typeface="IBM Plex Sans Condensed"/>
                <a:sym typeface="IBM Plex Sans Condensed"/>
              </a:rPr>
              <a:t>issued</a:t>
            </a:r>
            <a:r>
              <a:rPr lang="en-US" sz="1400" spc="-2">
                <a:solidFill>
                  <a:srgbClr val="000000"/>
                </a:solidFill>
                <a:latin typeface="IBM Plex Sans Condensed"/>
                <a:ea typeface="IBM Plex Sans Condensed"/>
                <a:cs typeface="IBM Plex Sans Condensed"/>
                <a:sym typeface="IBM Plex Sans Condensed"/>
              </a:rPr>
              <a:t> </a:t>
            </a:r>
            <a:r>
              <a:rPr lang="en-US" sz="1400" spc="-2">
                <a:solidFill>
                  <a:srgbClr val="595959"/>
                </a:solidFill>
                <a:latin typeface="IBM Plex Sans Condensed"/>
                <a:ea typeface="IBM Plex Sans Condensed"/>
                <a:cs typeface="IBM Plex Sans Condensed"/>
                <a:sym typeface="IBM Plex Sans Condensed"/>
              </a:rPr>
              <a:t>and</a:t>
            </a:r>
            <a:r>
              <a:rPr lang="en-US" sz="1400" spc="-2">
                <a:solidFill>
                  <a:srgbClr val="000000"/>
                </a:solidFill>
                <a:latin typeface="IBM Plex Sans Condensed"/>
                <a:ea typeface="IBM Plex Sans Condensed"/>
                <a:cs typeface="IBM Plex Sans Condensed"/>
                <a:sym typeface="IBM Plex Sans Condensed"/>
              </a:rPr>
              <a:t> </a:t>
            </a:r>
            <a:r>
              <a:rPr lang="en-US" sz="1400" spc="-2">
                <a:solidFill>
                  <a:srgbClr val="595959"/>
                </a:solidFill>
                <a:latin typeface="IBM Plex Sans Condensed"/>
                <a:ea typeface="IBM Plex Sans Condensed"/>
                <a:cs typeface="IBM Plex Sans Condensed"/>
                <a:sym typeface="IBM Plex Sans Condensed"/>
              </a:rPr>
              <a:t>compliance</a:t>
            </a:r>
            <a:r>
              <a:rPr lang="en-US" sz="1400" spc="-2">
                <a:solidFill>
                  <a:srgbClr val="000000"/>
                </a:solidFill>
                <a:latin typeface="IBM Plex Sans Condensed"/>
                <a:ea typeface="IBM Plex Sans Condensed"/>
                <a:cs typeface="IBM Plex Sans Condensed"/>
                <a:sym typeface="IBM Plex Sans Condensed"/>
              </a:rPr>
              <a:t> </a:t>
            </a:r>
            <a:r>
              <a:rPr lang="en-US" sz="1400" spc="-2">
                <a:solidFill>
                  <a:srgbClr val="595959"/>
                </a:solidFill>
                <a:latin typeface="IBM Plex Sans Condensed"/>
                <a:ea typeface="IBM Plex Sans Condensed"/>
                <a:cs typeface="IBM Plex Sans Condensed"/>
                <a:sym typeface="IBM Plex Sans Condensed"/>
              </a:rPr>
              <a:t>verification.</a:t>
            </a:r>
          </a:p>
        </p:txBody>
      </p:sp>
      <p:sp>
        <p:nvSpPr>
          <p:cNvPr name="TextBox 28" id="28"/>
          <p:cNvSpPr txBox="true"/>
          <p:nvPr/>
        </p:nvSpPr>
        <p:spPr>
          <a:xfrm rot="0">
            <a:off x="730082" y="2212229"/>
            <a:ext cx="4386262" cy="240657"/>
          </a:xfrm>
          <a:prstGeom prst="rect">
            <a:avLst/>
          </a:prstGeom>
        </p:spPr>
        <p:txBody>
          <a:bodyPr anchor="t" rtlCol="false" tIns="0" lIns="0" bIns="0" rIns="0">
            <a:spAutoFit/>
          </a:bodyPr>
          <a:lstStyle/>
          <a:p>
            <a:pPr algn="l">
              <a:lnSpc>
                <a:spcPts val="1960"/>
              </a:lnSpc>
            </a:pPr>
            <a:r>
              <a:rPr lang="en-US" sz="1400" spc="-2">
                <a:solidFill>
                  <a:srgbClr val="595959"/>
                </a:solidFill>
                <a:latin typeface="IBM Plex Sans Condensed"/>
                <a:ea typeface="IBM Plex Sans Condensed"/>
                <a:cs typeface="IBM Plex Sans Condensed"/>
                <a:sym typeface="IBM Plex Sans Condensed"/>
              </a:rPr>
              <a:t>Add,update,and view employee details,department, and role.</a:t>
            </a:r>
          </a:p>
        </p:txBody>
      </p:sp>
      <p:sp>
        <p:nvSpPr>
          <p:cNvPr name="TextBox 29" id="29"/>
          <p:cNvSpPr txBox="true"/>
          <p:nvPr/>
        </p:nvSpPr>
        <p:spPr>
          <a:xfrm rot="0">
            <a:off x="730082" y="3766709"/>
            <a:ext cx="4768334" cy="240657"/>
          </a:xfrm>
          <a:prstGeom prst="rect">
            <a:avLst/>
          </a:prstGeom>
        </p:spPr>
        <p:txBody>
          <a:bodyPr anchor="t" rtlCol="false" tIns="0" lIns="0" bIns="0" rIns="0">
            <a:spAutoFit/>
          </a:bodyPr>
          <a:lstStyle/>
          <a:p>
            <a:pPr algn="l">
              <a:lnSpc>
                <a:spcPts val="1960"/>
              </a:lnSpc>
            </a:pPr>
            <a:r>
              <a:rPr lang="en-US" sz="1400" spc="-2">
                <a:solidFill>
                  <a:srgbClr val="595959"/>
                </a:solidFill>
                <a:latin typeface="IBM Plex Sans Condensed"/>
                <a:ea typeface="IBM Plex Sans Condensed"/>
                <a:cs typeface="IBM Plex Sans Condensed"/>
                <a:sym typeface="IBM Plex Sans Condensed"/>
              </a:rPr>
              <a:t>Classifies zones by risk level and logs sensor-based hazard events.</a:t>
            </a:r>
          </a:p>
        </p:txBody>
      </p:sp>
      <p:sp>
        <p:nvSpPr>
          <p:cNvPr name="TextBox 30" id="30"/>
          <p:cNvSpPr txBox="true"/>
          <p:nvPr/>
        </p:nvSpPr>
        <p:spPr>
          <a:xfrm rot="0">
            <a:off x="6641640" y="5321189"/>
            <a:ext cx="4497586" cy="240657"/>
          </a:xfrm>
          <a:prstGeom prst="rect">
            <a:avLst/>
          </a:prstGeom>
        </p:spPr>
        <p:txBody>
          <a:bodyPr anchor="t" rtlCol="false" tIns="0" lIns="0" bIns="0" rIns="0">
            <a:spAutoFit/>
          </a:bodyPr>
          <a:lstStyle/>
          <a:p>
            <a:pPr algn="l">
              <a:lnSpc>
                <a:spcPts val="1960"/>
              </a:lnSpc>
            </a:pPr>
            <a:r>
              <a:rPr lang="en-US" sz="1400" spc="-2">
                <a:solidFill>
                  <a:srgbClr val="595959"/>
                </a:solidFill>
                <a:latin typeface="IBM Plex Sans Condensed"/>
                <a:ea typeface="IBM Plex Sans Condensed"/>
                <a:cs typeface="IBM Plex Sans Condensed"/>
                <a:sym typeface="IBM Plex Sans Condensed"/>
              </a:rPr>
              <a:t>Sends real-time alerts to supervisors during hazard or incident </a:t>
            </a:r>
          </a:p>
        </p:txBody>
      </p:sp>
      <p:sp>
        <p:nvSpPr>
          <p:cNvPr name="TextBox 31" id="31"/>
          <p:cNvSpPr txBox="true"/>
          <p:nvPr/>
        </p:nvSpPr>
        <p:spPr>
          <a:xfrm rot="0">
            <a:off x="6641640" y="5534682"/>
            <a:ext cx="508083" cy="237868"/>
          </a:xfrm>
          <a:prstGeom prst="rect">
            <a:avLst/>
          </a:prstGeom>
        </p:spPr>
        <p:txBody>
          <a:bodyPr anchor="t" rtlCol="false" tIns="0" lIns="0" bIns="0" rIns="0">
            <a:spAutoFit/>
          </a:bodyPr>
          <a:lstStyle/>
          <a:p>
            <a:pPr algn="l">
              <a:lnSpc>
                <a:spcPts val="1960"/>
              </a:lnSpc>
            </a:pPr>
            <a:r>
              <a:rPr lang="en-US" sz="1400" spc="-2">
                <a:solidFill>
                  <a:srgbClr val="595959"/>
                </a:solidFill>
                <a:latin typeface="IBM Plex Sans Condensed"/>
                <a:ea typeface="IBM Plex Sans Condensed"/>
                <a:cs typeface="IBM Plex Sans Condensed"/>
                <a:sym typeface="IBM Plex Sans Condensed"/>
              </a:rPr>
              <a:t>events.</a:t>
            </a:r>
          </a:p>
        </p:txBody>
      </p:sp>
      <p:sp>
        <p:nvSpPr>
          <p:cNvPr name="TextBox 32" id="32"/>
          <p:cNvSpPr txBox="true"/>
          <p:nvPr/>
        </p:nvSpPr>
        <p:spPr>
          <a:xfrm rot="0">
            <a:off x="6641640" y="3766709"/>
            <a:ext cx="4734044" cy="240657"/>
          </a:xfrm>
          <a:prstGeom prst="rect">
            <a:avLst/>
          </a:prstGeom>
        </p:spPr>
        <p:txBody>
          <a:bodyPr anchor="t" rtlCol="false" tIns="0" lIns="0" bIns="0" rIns="0">
            <a:spAutoFit/>
          </a:bodyPr>
          <a:lstStyle/>
          <a:p>
            <a:pPr algn="l">
              <a:lnSpc>
                <a:spcPts val="1960"/>
              </a:lnSpc>
            </a:pPr>
            <a:r>
              <a:rPr lang="en-US" sz="1400" spc="-2">
                <a:solidFill>
                  <a:srgbClr val="595959"/>
                </a:solidFill>
                <a:latin typeface="IBM Plex Sans Condensed"/>
                <a:ea typeface="IBM Plex Sans Condensed"/>
                <a:cs typeface="IBM Plex Sans Condensed"/>
                <a:sym typeface="IBM Plex Sans Condensed"/>
              </a:rPr>
              <a:t>Records incidents with cause,severity,and corrective action taken.</a:t>
            </a:r>
          </a:p>
        </p:txBody>
      </p:sp>
      <p:sp>
        <p:nvSpPr>
          <p:cNvPr name="TextBox 33" id="33"/>
          <p:cNvSpPr txBox="true"/>
          <p:nvPr/>
        </p:nvSpPr>
        <p:spPr>
          <a:xfrm rot="0">
            <a:off x="6641640" y="2212229"/>
            <a:ext cx="4866680" cy="240657"/>
          </a:xfrm>
          <a:prstGeom prst="rect">
            <a:avLst/>
          </a:prstGeom>
        </p:spPr>
        <p:txBody>
          <a:bodyPr anchor="t" rtlCol="false" tIns="0" lIns="0" bIns="0" rIns="0">
            <a:spAutoFit/>
          </a:bodyPr>
          <a:lstStyle/>
          <a:p>
            <a:pPr algn="l">
              <a:lnSpc>
                <a:spcPts val="1960"/>
              </a:lnSpc>
            </a:pPr>
            <a:r>
              <a:rPr lang="en-US" sz="1400" spc="-2">
                <a:solidFill>
                  <a:srgbClr val="595959"/>
                </a:solidFill>
                <a:latin typeface="IBM Plex Sans Condensed"/>
                <a:ea typeface="IBM Plex Sans Condensed"/>
                <a:cs typeface="IBM Plex Sans Condensed"/>
                <a:sym typeface="IBM Plex Sans Condensed"/>
              </a:rPr>
              <a:t>Maintains periodic health checkup data and flags at-risk employees.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297580" y="1531668"/>
            <a:ext cx="3772357" cy="4616548"/>
          </a:xfrm>
          <a:custGeom>
            <a:avLst/>
            <a:gdLst/>
            <a:ahLst/>
            <a:cxnLst/>
            <a:rect r="r" b="b" t="t" l="l"/>
            <a:pathLst>
              <a:path h="4616548" w="3772357">
                <a:moveTo>
                  <a:pt x="0" y="0"/>
                </a:moveTo>
                <a:lnTo>
                  <a:pt x="3772357" y="0"/>
                </a:lnTo>
                <a:lnTo>
                  <a:pt x="3772357" y="4616548"/>
                </a:lnTo>
                <a:lnTo>
                  <a:pt x="0" y="46165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4208269" y="1531668"/>
            <a:ext cx="3772357" cy="4616548"/>
          </a:xfrm>
          <a:custGeom>
            <a:avLst/>
            <a:gdLst/>
            <a:ahLst/>
            <a:cxnLst/>
            <a:rect r="r" b="b" t="t" l="l"/>
            <a:pathLst>
              <a:path h="4616548" w="3772357">
                <a:moveTo>
                  <a:pt x="0" y="0"/>
                </a:moveTo>
                <a:lnTo>
                  <a:pt x="3772357" y="0"/>
                </a:lnTo>
                <a:lnTo>
                  <a:pt x="3772357" y="4616548"/>
                </a:lnTo>
                <a:lnTo>
                  <a:pt x="0" y="4616548"/>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118586" y="1531668"/>
            <a:ext cx="3772357" cy="4616548"/>
          </a:xfrm>
          <a:custGeom>
            <a:avLst/>
            <a:gdLst/>
            <a:ahLst/>
            <a:cxnLst/>
            <a:rect r="r" b="b" t="t" l="l"/>
            <a:pathLst>
              <a:path h="4616548" w="3772357">
                <a:moveTo>
                  <a:pt x="0" y="0"/>
                </a:moveTo>
                <a:lnTo>
                  <a:pt x="3772357" y="0"/>
                </a:lnTo>
                <a:lnTo>
                  <a:pt x="3772357" y="4616548"/>
                </a:lnTo>
                <a:lnTo>
                  <a:pt x="0" y="4616548"/>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1697843" y="6508404"/>
            <a:ext cx="128711"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10</a:t>
            </a:r>
          </a:p>
        </p:txBody>
      </p:sp>
      <p:sp>
        <p:nvSpPr>
          <p:cNvPr name="TextBox 11" id="11"/>
          <p:cNvSpPr txBox="true"/>
          <p:nvPr/>
        </p:nvSpPr>
        <p:spPr>
          <a:xfrm rot="0">
            <a:off x="455400" y="1001039"/>
            <a:ext cx="8309610" cy="574643"/>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Module 1: Employee &amp; Health Management</a:t>
            </a:r>
          </a:p>
        </p:txBody>
      </p:sp>
      <p:sp>
        <p:nvSpPr>
          <p:cNvPr name="TextBox 12" id="12"/>
          <p:cNvSpPr txBox="true"/>
          <p:nvPr/>
        </p:nvSpPr>
        <p:spPr>
          <a:xfrm rot="0">
            <a:off x="1246318" y="1750733"/>
            <a:ext cx="1910848" cy="282778"/>
          </a:xfrm>
          <a:prstGeom prst="rect">
            <a:avLst/>
          </a:prstGeom>
        </p:spPr>
        <p:txBody>
          <a:bodyPr anchor="t" rtlCol="false" tIns="0" lIns="0" bIns="0" rIns="0">
            <a:spAutoFit/>
          </a:bodyPr>
          <a:lstStyle/>
          <a:p>
            <a:pPr algn="l">
              <a:lnSpc>
                <a:spcPts val="2381"/>
              </a:lnSpc>
            </a:pPr>
            <a:r>
              <a:rPr lang="en-US" b="true" sz="1700" spc="-10">
                <a:solidFill>
                  <a:srgbClr val="FFFFFF"/>
                </a:solidFill>
                <a:latin typeface="Montserrat Bold"/>
                <a:ea typeface="Montserrat Bold"/>
                <a:cs typeface="Montserrat Bold"/>
                <a:sym typeface="Montserrat Bold"/>
              </a:rPr>
              <a:t>OOP Concepts Used</a:t>
            </a:r>
          </a:p>
        </p:txBody>
      </p:sp>
      <p:sp>
        <p:nvSpPr>
          <p:cNvPr name="TextBox 13" id="13"/>
          <p:cNvSpPr txBox="true"/>
          <p:nvPr/>
        </p:nvSpPr>
        <p:spPr>
          <a:xfrm rot="0">
            <a:off x="5637962" y="1750733"/>
            <a:ext cx="930421" cy="282778"/>
          </a:xfrm>
          <a:prstGeom prst="rect">
            <a:avLst/>
          </a:prstGeom>
        </p:spPr>
        <p:txBody>
          <a:bodyPr anchor="t" rtlCol="false" tIns="0" lIns="0" bIns="0" rIns="0">
            <a:spAutoFit/>
          </a:bodyPr>
          <a:lstStyle/>
          <a:p>
            <a:pPr algn="l">
              <a:lnSpc>
                <a:spcPts val="2381"/>
              </a:lnSpc>
            </a:pPr>
            <a:r>
              <a:rPr lang="en-US" b="true" sz="1700" spc="-10">
                <a:solidFill>
                  <a:srgbClr val="FFFFFF"/>
                </a:solidFill>
                <a:latin typeface="Montserrat Bold"/>
                <a:ea typeface="Montserrat Bold"/>
                <a:cs typeface="Montserrat Bold"/>
                <a:sym typeface="Montserrat Bold"/>
              </a:rPr>
              <a:t>Functions</a:t>
            </a:r>
          </a:p>
        </p:txBody>
      </p:sp>
      <p:sp>
        <p:nvSpPr>
          <p:cNvPr name="TextBox 14" id="14"/>
          <p:cNvSpPr txBox="true"/>
          <p:nvPr/>
        </p:nvSpPr>
        <p:spPr>
          <a:xfrm rot="0">
            <a:off x="9668523" y="1750733"/>
            <a:ext cx="685638" cy="282778"/>
          </a:xfrm>
          <a:prstGeom prst="rect">
            <a:avLst/>
          </a:prstGeom>
        </p:spPr>
        <p:txBody>
          <a:bodyPr anchor="t" rtlCol="false" tIns="0" lIns="0" bIns="0" rIns="0">
            <a:spAutoFit/>
          </a:bodyPr>
          <a:lstStyle/>
          <a:p>
            <a:pPr algn="l">
              <a:lnSpc>
                <a:spcPts val="2381"/>
              </a:lnSpc>
            </a:pPr>
            <a:r>
              <a:rPr lang="en-US" b="true" sz="1700" spc="-10">
                <a:solidFill>
                  <a:srgbClr val="FFFFFF"/>
                </a:solidFill>
                <a:latin typeface="Montserrat Bold"/>
                <a:ea typeface="Montserrat Bold"/>
                <a:cs typeface="Montserrat Bold"/>
                <a:sym typeface="Montserrat Bold"/>
              </a:rPr>
              <a:t>Output</a:t>
            </a:r>
          </a:p>
        </p:txBody>
      </p:sp>
      <p:sp>
        <p:nvSpPr>
          <p:cNvPr name="TextBox 15" id="15"/>
          <p:cNvSpPr txBox="true"/>
          <p:nvPr/>
        </p:nvSpPr>
        <p:spPr>
          <a:xfrm rot="0">
            <a:off x="638642" y="2326357"/>
            <a:ext cx="64399" cy="1345282"/>
          </a:xfrm>
          <a:prstGeom prst="rect">
            <a:avLst/>
          </a:prstGeom>
        </p:spPr>
        <p:txBody>
          <a:bodyPr anchor="t" rtlCol="false" tIns="0" lIns="0" bIns="0" rIns="0">
            <a:spAutoFit/>
          </a:bodyPr>
          <a:lstStyle/>
          <a:p>
            <a:pPr algn="just">
              <a:lnSpc>
                <a:spcPts val="2729"/>
              </a:lnSpc>
            </a:pPr>
            <a:r>
              <a:rPr lang="en-US" sz="1400" spc="-2">
                <a:solidFill>
                  <a:srgbClr val="262626"/>
                </a:solidFill>
                <a:latin typeface="IBM Plex Sans Condensed"/>
                <a:ea typeface="IBM Plex Sans Condensed"/>
                <a:cs typeface="IBM Plex Sans Condensed"/>
                <a:sym typeface="IBM Plex Sans Condensed"/>
              </a:rPr>
              <a:t>• • • •</a:t>
            </a:r>
          </a:p>
        </p:txBody>
      </p:sp>
      <p:sp>
        <p:nvSpPr>
          <p:cNvPr name="TextBox 16" id="16"/>
          <p:cNvSpPr txBox="true"/>
          <p:nvPr/>
        </p:nvSpPr>
        <p:spPr>
          <a:xfrm rot="0">
            <a:off x="4549321" y="2326357"/>
            <a:ext cx="64399" cy="651920"/>
          </a:xfrm>
          <a:prstGeom prst="rect">
            <a:avLst/>
          </a:prstGeom>
        </p:spPr>
        <p:txBody>
          <a:bodyPr anchor="t" rtlCol="false" tIns="0" lIns="0" bIns="0" rIns="0">
            <a:spAutoFit/>
          </a:bodyPr>
          <a:lstStyle/>
          <a:p>
            <a:pPr algn="just">
              <a:lnSpc>
                <a:spcPts val="2729"/>
              </a:lnSpc>
            </a:pPr>
            <a:r>
              <a:rPr lang="en-US" sz="1400" spc="-2">
                <a:solidFill>
                  <a:srgbClr val="262626"/>
                </a:solidFill>
                <a:latin typeface="IBM Plex Sans Condensed"/>
                <a:ea typeface="IBM Plex Sans Condensed"/>
                <a:cs typeface="IBM Plex Sans Condensed"/>
                <a:sym typeface="IBM Plex Sans Condensed"/>
              </a:rPr>
              <a:t>• •</a:t>
            </a:r>
          </a:p>
        </p:txBody>
      </p:sp>
      <p:sp>
        <p:nvSpPr>
          <p:cNvPr name="TextBox 17" id="17"/>
          <p:cNvSpPr txBox="true"/>
          <p:nvPr/>
        </p:nvSpPr>
        <p:spPr>
          <a:xfrm rot="0">
            <a:off x="4549321" y="3264875"/>
            <a:ext cx="64399" cy="1345292"/>
          </a:xfrm>
          <a:prstGeom prst="rect">
            <a:avLst/>
          </a:prstGeom>
        </p:spPr>
        <p:txBody>
          <a:bodyPr anchor="t" rtlCol="false" tIns="0" lIns="0" bIns="0" rIns="0">
            <a:spAutoFit/>
          </a:bodyPr>
          <a:lstStyle/>
          <a:p>
            <a:pPr algn="just">
              <a:lnSpc>
                <a:spcPts val="2729"/>
              </a:lnSpc>
            </a:pPr>
            <a:r>
              <a:rPr lang="en-US" sz="1400" spc="-2">
                <a:solidFill>
                  <a:srgbClr val="262626"/>
                </a:solidFill>
                <a:latin typeface="IBM Plex Sans Condensed"/>
                <a:ea typeface="IBM Plex Sans Condensed"/>
                <a:cs typeface="IBM Plex Sans Condensed"/>
                <a:sym typeface="IBM Plex Sans Condensed"/>
              </a:rPr>
              <a:t>• • • •</a:t>
            </a:r>
          </a:p>
        </p:txBody>
      </p:sp>
      <p:sp>
        <p:nvSpPr>
          <p:cNvPr name="TextBox 18" id="18"/>
          <p:cNvSpPr txBox="true"/>
          <p:nvPr/>
        </p:nvSpPr>
        <p:spPr>
          <a:xfrm rot="0">
            <a:off x="8459638" y="2326357"/>
            <a:ext cx="64399" cy="998611"/>
          </a:xfrm>
          <a:prstGeom prst="rect">
            <a:avLst/>
          </a:prstGeom>
        </p:spPr>
        <p:txBody>
          <a:bodyPr anchor="t" rtlCol="false" tIns="0" lIns="0" bIns="0" rIns="0">
            <a:spAutoFit/>
          </a:bodyPr>
          <a:lstStyle/>
          <a:p>
            <a:pPr algn="just">
              <a:lnSpc>
                <a:spcPts val="2729"/>
              </a:lnSpc>
            </a:pPr>
            <a:r>
              <a:rPr lang="en-US" sz="1400" spc="-2">
                <a:solidFill>
                  <a:srgbClr val="262626"/>
                </a:solidFill>
                <a:latin typeface="IBM Plex Sans Condensed"/>
                <a:ea typeface="IBM Plex Sans Condensed"/>
                <a:cs typeface="IBM Plex Sans Condensed"/>
                <a:sym typeface="IBM Plex Sans Condensed"/>
              </a:rPr>
              <a:t>• • •</a:t>
            </a:r>
          </a:p>
        </p:txBody>
      </p:sp>
      <p:sp>
        <p:nvSpPr>
          <p:cNvPr name="TextBox 19" id="19"/>
          <p:cNvSpPr txBox="true"/>
          <p:nvPr/>
        </p:nvSpPr>
        <p:spPr>
          <a:xfrm rot="0">
            <a:off x="981723" y="2331882"/>
            <a:ext cx="1451886" cy="1354103"/>
          </a:xfrm>
          <a:prstGeom prst="rect">
            <a:avLst/>
          </a:prstGeom>
        </p:spPr>
        <p:txBody>
          <a:bodyPr anchor="t" rtlCol="false" tIns="0" lIns="0" bIns="0" rIns="0">
            <a:spAutoFit/>
          </a:bodyPr>
          <a:lstStyle/>
          <a:p>
            <a:pPr algn="l">
              <a:lnSpc>
                <a:spcPts val="2729"/>
              </a:lnSpc>
            </a:pPr>
            <a:r>
              <a:rPr lang="en-US" sz="1400" spc="-1">
                <a:solidFill>
                  <a:srgbClr val="262626"/>
                </a:solidFill>
                <a:latin typeface="IBM Plex Sans Condensed"/>
                <a:ea typeface="IBM Plex Sans Condensed"/>
                <a:cs typeface="IBM Plex Sans Condensed"/>
                <a:sym typeface="IBM Plex Sans Condensed"/>
              </a:rPr>
              <a:t>Classes and Objects Encapsulation Constructors Inheritance</a:t>
            </a:r>
          </a:p>
        </p:txBody>
      </p:sp>
      <p:sp>
        <p:nvSpPr>
          <p:cNvPr name="TextBox 20" id="20"/>
          <p:cNvSpPr txBox="true"/>
          <p:nvPr/>
        </p:nvSpPr>
        <p:spPr>
          <a:xfrm rot="0">
            <a:off x="4892392" y="2331882"/>
            <a:ext cx="2508514" cy="2292620"/>
          </a:xfrm>
          <a:prstGeom prst="rect">
            <a:avLst/>
          </a:prstGeom>
        </p:spPr>
        <p:txBody>
          <a:bodyPr anchor="t" rtlCol="false" tIns="0" lIns="0" bIns="0" rIns="0">
            <a:spAutoFit/>
          </a:bodyPr>
          <a:lstStyle/>
          <a:p>
            <a:pPr algn="l">
              <a:lnSpc>
                <a:spcPts val="2729"/>
              </a:lnSpc>
            </a:pPr>
            <a:r>
              <a:rPr lang="en-US" sz="1400" spc="-1">
                <a:solidFill>
                  <a:srgbClr val="262626"/>
                </a:solidFill>
                <a:latin typeface="IBM Plex Sans Condensed"/>
                <a:ea typeface="IBM Plex Sans Condensed"/>
                <a:cs typeface="IBM Plex Sans Condensed"/>
                <a:sym typeface="IBM Plex Sans Condensed"/>
              </a:rPr>
              <a:t>Add new employee records Update employee &amp; department details</a:t>
            </a:r>
          </a:p>
          <a:p>
            <a:pPr algn="l">
              <a:lnSpc>
                <a:spcPts val="2729"/>
              </a:lnSpc>
            </a:pPr>
            <a:r>
              <a:rPr lang="en-US" sz="1400" spc="-1">
                <a:solidFill>
                  <a:srgbClr val="262626"/>
                </a:solidFill>
                <a:latin typeface="IBM Plex Sans Condensed"/>
                <a:ea typeface="IBM Plex Sans Condensed"/>
                <a:cs typeface="IBM Plex Sans Condensed"/>
                <a:sym typeface="IBM Plex Sans Condensed"/>
              </a:rPr>
              <a:t>Store periodic health checkup data Flag at-risk employees</a:t>
            </a:r>
          </a:p>
          <a:p>
            <a:pPr algn="l">
              <a:lnSpc>
                <a:spcPts val="2729"/>
              </a:lnSpc>
            </a:pPr>
            <a:r>
              <a:rPr lang="en-US" sz="1400" spc="-1">
                <a:solidFill>
                  <a:srgbClr val="262626"/>
                </a:solidFill>
                <a:latin typeface="IBM Plex Sans Condensed"/>
                <a:ea typeface="IBM Plex Sans Condensed"/>
                <a:cs typeface="IBM Plex Sans Condensed"/>
                <a:sym typeface="IBM Plex Sans Condensed"/>
              </a:rPr>
              <a:t>Track training / certification status Search employee by ID or name</a:t>
            </a:r>
          </a:p>
        </p:txBody>
      </p:sp>
      <p:sp>
        <p:nvSpPr>
          <p:cNvPr name="TextBox 21" id="21"/>
          <p:cNvSpPr txBox="true"/>
          <p:nvPr/>
        </p:nvSpPr>
        <p:spPr>
          <a:xfrm rot="0">
            <a:off x="8802729" y="2331882"/>
            <a:ext cx="2518848" cy="1007421"/>
          </a:xfrm>
          <a:prstGeom prst="rect">
            <a:avLst/>
          </a:prstGeom>
        </p:spPr>
        <p:txBody>
          <a:bodyPr anchor="t" rtlCol="false" tIns="0" lIns="0" bIns="0" rIns="0">
            <a:spAutoFit/>
          </a:bodyPr>
          <a:lstStyle/>
          <a:p>
            <a:pPr algn="l">
              <a:lnSpc>
                <a:spcPts val="2729"/>
              </a:lnSpc>
            </a:pPr>
            <a:r>
              <a:rPr lang="en-US" sz="1400" spc="-1">
                <a:solidFill>
                  <a:srgbClr val="262626"/>
                </a:solidFill>
                <a:latin typeface="IBM Plex Sans Condensed"/>
                <a:ea typeface="IBM Plex Sans Condensed"/>
                <a:cs typeface="IBM Plex Sans Condensed"/>
                <a:sym typeface="IBM Plex Sans Condensed"/>
              </a:rPr>
              <a:t>Updated employee database Accurate health &amp; training records List of at-risk employees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297580" y="1531668"/>
            <a:ext cx="3772357" cy="4616548"/>
          </a:xfrm>
          <a:custGeom>
            <a:avLst/>
            <a:gdLst/>
            <a:ahLst/>
            <a:cxnLst/>
            <a:rect r="r" b="b" t="t" l="l"/>
            <a:pathLst>
              <a:path h="4616548" w="3772357">
                <a:moveTo>
                  <a:pt x="0" y="0"/>
                </a:moveTo>
                <a:lnTo>
                  <a:pt x="3772357" y="0"/>
                </a:lnTo>
                <a:lnTo>
                  <a:pt x="3772357" y="4616548"/>
                </a:lnTo>
                <a:lnTo>
                  <a:pt x="0" y="46165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4208269" y="1531668"/>
            <a:ext cx="3772357" cy="4616548"/>
          </a:xfrm>
          <a:custGeom>
            <a:avLst/>
            <a:gdLst/>
            <a:ahLst/>
            <a:cxnLst/>
            <a:rect r="r" b="b" t="t" l="l"/>
            <a:pathLst>
              <a:path h="4616548" w="3772357">
                <a:moveTo>
                  <a:pt x="0" y="0"/>
                </a:moveTo>
                <a:lnTo>
                  <a:pt x="3772357" y="0"/>
                </a:lnTo>
                <a:lnTo>
                  <a:pt x="3772357" y="4616548"/>
                </a:lnTo>
                <a:lnTo>
                  <a:pt x="0" y="4616548"/>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118586" y="1531668"/>
            <a:ext cx="3772357" cy="4616548"/>
          </a:xfrm>
          <a:custGeom>
            <a:avLst/>
            <a:gdLst/>
            <a:ahLst/>
            <a:cxnLst/>
            <a:rect r="r" b="b" t="t" l="l"/>
            <a:pathLst>
              <a:path h="4616548" w="3772357">
                <a:moveTo>
                  <a:pt x="0" y="0"/>
                </a:moveTo>
                <a:lnTo>
                  <a:pt x="3772357" y="0"/>
                </a:lnTo>
                <a:lnTo>
                  <a:pt x="3772357" y="4616548"/>
                </a:lnTo>
                <a:lnTo>
                  <a:pt x="0" y="4616548"/>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1703968" y="6508404"/>
            <a:ext cx="123006"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11</a:t>
            </a:r>
          </a:p>
        </p:txBody>
      </p:sp>
      <p:sp>
        <p:nvSpPr>
          <p:cNvPr name="TextBox 11" id="11"/>
          <p:cNvSpPr txBox="true"/>
          <p:nvPr/>
        </p:nvSpPr>
        <p:spPr>
          <a:xfrm rot="0">
            <a:off x="455400" y="1001039"/>
            <a:ext cx="8467230" cy="574643"/>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Module 2: Hazard Zone Monitoring &amp; Alerts</a:t>
            </a:r>
          </a:p>
        </p:txBody>
      </p:sp>
      <p:sp>
        <p:nvSpPr>
          <p:cNvPr name="TextBox 12" id="12"/>
          <p:cNvSpPr txBox="true"/>
          <p:nvPr/>
        </p:nvSpPr>
        <p:spPr>
          <a:xfrm rot="0">
            <a:off x="1246318" y="1750733"/>
            <a:ext cx="1910848" cy="282778"/>
          </a:xfrm>
          <a:prstGeom prst="rect">
            <a:avLst/>
          </a:prstGeom>
        </p:spPr>
        <p:txBody>
          <a:bodyPr anchor="t" rtlCol="false" tIns="0" lIns="0" bIns="0" rIns="0">
            <a:spAutoFit/>
          </a:bodyPr>
          <a:lstStyle/>
          <a:p>
            <a:pPr algn="l">
              <a:lnSpc>
                <a:spcPts val="2381"/>
              </a:lnSpc>
            </a:pPr>
            <a:r>
              <a:rPr lang="en-US" b="true" sz="1700" spc="-10">
                <a:solidFill>
                  <a:srgbClr val="FFFFFF"/>
                </a:solidFill>
                <a:latin typeface="Montserrat Bold"/>
                <a:ea typeface="Montserrat Bold"/>
                <a:cs typeface="Montserrat Bold"/>
                <a:sym typeface="Montserrat Bold"/>
              </a:rPr>
              <a:t>OOP Concepts Used</a:t>
            </a:r>
          </a:p>
        </p:txBody>
      </p:sp>
      <p:sp>
        <p:nvSpPr>
          <p:cNvPr name="TextBox 13" id="13"/>
          <p:cNvSpPr txBox="true"/>
          <p:nvPr/>
        </p:nvSpPr>
        <p:spPr>
          <a:xfrm rot="0">
            <a:off x="5637962" y="1750733"/>
            <a:ext cx="930421" cy="282778"/>
          </a:xfrm>
          <a:prstGeom prst="rect">
            <a:avLst/>
          </a:prstGeom>
        </p:spPr>
        <p:txBody>
          <a:bodyPr anchor="t" rtlCol="false" tIns="0" lIns="0" bIns="0" rIns="0">
            <a:spAutoFit/>
          </a:bodyPr>
          <a:lstStyle/>
          <a:p>
            <a:pPr algn="l">
              <a:lnSpc>
                <a:spcPts val="2381"/>
              </a:lnSpc>
            </a:pPr>
            <a:r>
              <a:rPr lang="en-US" b="true" sz="1700" spc="-10">
                <a:solidFill>
                  <a:srgbClr val="FFFFFF"/>
                </a:solidFill>
                <a:latin typeface="Montserrat Bold"/>
                <a:ea typeface="Montserrat Bold"/>
                <a:cs typeface="Montserrat Bold"/>
                <a:sym typeface="Montserrat Bold"/>
              </a:rPr>
              <a:t>Functions</a:t>
            </a:r>
          </a:p>
        </p:txBody>
      </p:sp>
      <p:sp>
        <p:nvSpPr>
          <p:cNvPr name="TextBox 14" id="14"/>
          <p:cNvSpPr txBox="true"/>
          <p:nvPr/>
        </p:nvSpPr>
        <p:spPr>
          <a:xfrm rot="0">
            <a:off x="9668523" y="1750733"/>
            <a:ext cx="685638" cy="282778"/>
          </a:xfrm>
          <a:prstGeom prst="rect">
            <a:avLst/>
          </a:prstGeom>
        </p:spPr>
        <p:txBody>
          <a:bodyPr anchor="t" rtlCol="false" tIns="0" lIns="0" bIns="0" rIns="0">
            <a:spAutoFit/>
          </a:bodyPr>
          <a:lstStyle/>
          <a:p>
            <a:pPr algn="l">
              <a:lnSpc>
                <a:spcPts val="2381"/>
              </a:lnSpc>
            </a:pPr>
            <a:r>
              <a:rPr lang="en-US" b="true" sz="1700" spc="-10">
                <a:solidFill>
                  <a:srgbClr val="FFFFFF"/>
                </a:solidFill>
                <a:latin typeface="Montserrat Bold"/>
                <a:ea typeface="Montserrat Bold"/>
                <a:cs typeface="Montserrat Bold"/>
                <a:sym typeface="Montserrat Bold"/>
              </a:rPr>
              <a:t>Output</a:t>
            </a:r>
          </a:p>
        </p:txBody>
      </p:sp>
      <p:sp>
        <p:nvSpPr>
          <p:cNvPr name="TextBox 15" id="15"/>
          <p:cNvSpPr txBox="true"/>
          <p:nvPr/>
        </p:nvSpPr>
        <p:spPr>
          <a:xfrm rot="0">
            <a:off x="638642" y="2326357"/>
            <a:ext cx="64399" cy="998611"/>
          </a:xfrm>
          <a:prstGeom prst="rect">
            <a:avLst/>
          </a:prstGeom>
        </p:spPr>
        <p:txBody>
          <a:bodyPr anchor="t" rtlCol="false" tIns="0" lIns="0" bIns="0" rIns="0">
            <a:spAutoFit/>
          </a:bodyPr>
          <a:lstStyle/>
          <a:p>
            <a:pPr algn="just">
              <a:lnSpc>
                <a:spcPts val="2729"/>
              </a:lnSpc>
            </a:pPr>
            <a:r>
              <a:rPr lang="en-US" sz="1400" spc="-2">
                <a:solidFill>
                  <a:srgbClr val="262626"/>
                </a:solidFill>
                <a:latin typeface="IBM Plex Sans Condensed"/>
                <a:ea typeface="IBM Plex Sans Condensed"/>
                <a:cs typeface="IBM Plex Sans Condensed"/>
                <a:sym typeface="IBM Plex Sans Condensed"/>
              </a:rPr>
              <a:t>• • •</a:t>
            </a:r>
          </a:p>
        </p:txBody>
      </p:sp>
      <p:sp>
        <p:nvSpPr>
          <p:cNvPr name="TextBox 16" id="16"/>
          <p:cNvSpPr txBox="true"/>
          <p:nvPr/>
        </p:nvSpPr>
        <p:spPr>
          <a:xfrm rot="0">
            <a:off x="4549321" y="2326357"/>
            <a:ext cx="64399" cy="651920"/>
          </a:xfrm>
          <a:prstGeom prst="rect">
            <a:avLst/>
          </a:prstGeom>
        </p:spPr>
        <p:txBody>
          <a:bodyPr anchor="t" rtlCol="false" tIns="0" lIns="0" bIns="0" rIns="0">
            <a:spAutoFit/>
          </a:bodyPr>
          <a:lstStyle/>
          <a:p>
            <a:pPr algn="just">
              <a:lnSpc>
                <a:spcPts val="2729"/>
              </a:lnSpc>
            </a:pPr>
            <a:r>
              <a:rPr lang="en-US" sz="1400" spc="-2">
                <a:solidFill>
                  <a:srgbClr val="262626"/>
                </a:solidFill>
                <a:latin typeface="IBM Plex Sans Condensed"/>
                <a:ea typeface="IBM Plex Sans Condensed"/>
                <a:cs typeface="IBM Plex Sans Condensed"/>
                <a:sym typeface="IBM Plex Sans Condensed"/>
              </a:rPr>
              <a:t>• •</a:t>
            </a:r>
          </a:p>
        </p:txBody>
      </p:sp>
      <p:sp>
        <p:nvSpPr>
          <p:cNvPr name="TextBox 17" id="17"/>
          <p:cNvSpPr txBox="true"/>
          <p:nvPr/>
        </p:nvSpPr>
        <p:spPr>
          <a:xfrm rot="0">
            <a:off x="4549321" y="3341075"/>
            <a:ext cx="64399" cy="229048"/>
          </a:xfrm>
          <a:prstGeom prst="rect">
            <a:avLst/>
          </a:prstGeom>
        </p:spPr>
        <p:txBody>
          <a:bodyPr anchor="t" rtlCol="false" tIns="0" lIns="0" bIns="0" rIns="0">
            <a:spAutoFit/>
          </a:bodyPr>
          <a:lstStyle/>
          <a:p>
            <a:pPr algn="l">
              <a:lnSpc>
                <a:spcPts val="1960"/>
              </a:lnSpc>
            </a:pPr>
            <a:r>
              <a:rPr lang="en-US" sz="1400" spc="-2">
                <a:solidFill>
                  <a:srgbClr val="262626"/>
                </a:solidFill>
                <a:latin typeface="IBM Plex Sans Condensed"/>
                <a:ea typeface="IBM Plex Sans Condensed"/>
                <a:cs typeface="IBM Plex Sans Condensed"/>
                <a:sym typeface="IBM Plex Sans Condensed"/>
              </a:rPr>
              <a:t>•</a:t>
            </a:r>
          </a:p>
        </p:txBody>
      </p:sp>
      <p:sp>
        <p:nvSpPr>
          <p:cNvPr name="TextBox 18" id="18"/>
          <p:cNvSpPr txBox="true"/>
          <p:nvPr/>
        </p:nvSpPr>
        <p:spPr>
          <a:xfrm rot="0">
            <a:off x="4549321" y="3932901"/>
            <a:ext cx="64399" cy="229048"/>
          </a:xfrm>
          <a:prstGeom prst="rect">
            <a:avLst/>
          </a:prstGeom>
        </p:spPr>
        <p:txBody>
          <a:bodyPr anchor="t" rtlCol="false" tIns="0" lIns="0" bIns="0" rIns="0">
            <a:spAutoFit/>
          </a:bodyPr>
          <a:lstStyle/>
          <a:p>
            <a:pPr algn="l">
              <a:lnSpc>
                <a:spcPts val="1960"/>
              </a:lnSpc>
            </a:pPr>
            <a:r>
              <a:rPr lang="en-US" sz="1400" spc="-2">
                <a:solidFill>
                  <a:srgbClr val="262626"/>
                </a:solidFill>
                <a:latin typeface="IBM Plex Sans Condensed"/>
                <a:ea typeface="IBM Plex Sans Condensed"/>
                <a:cs typeface="IBM Plex Sans Condensed"/>
                <a:sym typeface="IBM Plex Sans Condensed"/>
              </a:rPr>
              <a:t>•</a:t>
            </a:r>
          </a:p>
        </p:txBody>
      </p:sp>
      <p:sp>
        <p:nvSpPr>
          <p:cNvPr name="TextBox 19" id="19"/>
          <p:cNvSpPr txBox="true"/>
          <p:nvPr/>
        </p:nvSpPr>
        <p:spPr>
          <a:xfrm rot="0">
            <a:off x="4549321" y="4524746"/>
            <a:ext cx="64399" cy="229048"/>
          </a:xfrm>
          <a:prstGeom prst="rect">
            <a:avLst/>
          </a:prstGeom>
        </p:spPr>
        <p:txBody>
          <a:bodyPr anchor="t" rtlCol="false" tIns="0" lIns="0" bIns="0" rIns="0">
            <a:spAutoFit/>
          </a:bodyPr>
          <a:lstStyle/>
          <a:p>
            <a:pPr algn="l">
              <a:lnSpc>
                <a:spcPts val="1960"/>
              </a:lnSpc>
            </a:pPr>
            <a:r>
              <a:rPr lang="en-US" sz="1400" spc="-2">
                <a:solidFill>
                  <a:srgbClr val="262626"/>
                </a:solidFill>
                <a:latin typeface="IBM Plex Sans Condensed"/>
                <a:ea typeface="IBM Plex Sans Condensed"/>
                <a:cs typeface="IBM Plex Sans Condensed"/>
                <a:sym typeface="IBM Plex Sans Condensed"/>
              </a:rPr>
              <a:t>•</a:t>
            </a:r>
          </a:p>
        </p:txBody>
      </p:sp>
      <p:sp>
        <p:nvSpPr>
          <p:cNvPr name="TextBox 20" id="20"/>
          <p:cNvSpPr txBox="true"/>
          <p:nvPr/>
        </p:nvSpPr>
        <p:spPr>
          <a:xfrm rot="0">
            <a:off x="8459638" y="2326357"/>
            <a:ext cx="64399" cy="998611"/>
          </a:xfrm>
          <a:prstGeom prst="rect">
            <a:avLst/>
          </a:prstGeom>
        </p:spPr>
        <p:txBody>
          <a:bodyPr anchor="t" rtlCol="false" tIns="0" lIns="0" bIns="0" rIns="0">
            <a:spAutoFit/>
          </a:bodyPr>
          <a:lstStyle/>
          <a:p>
            <a:pPr algn="just">
              <a:lnSpc>
                <a:spcPts val="2729"/>
              </a:lnSpc>
            </a:pPr>
            <a:r>
              <a:rPr lang="en-US" sz="1400" spc="-2">
                <a:solidFill>
                  <a:srgbClr val="262626"/>
                </a:solidFill>
                <a:latin typeface="IBM Plex Sans Condensed"/>
                <a:ea typeface="IBM Plex Sans Condensed"/>
                <a:cs typeface="IBM Plex Sans Condensed"/>
                <a:sym typeface="IBM Plex Sans Condensed"/>
              </a:rPr>
              <a:t>• • •</a:t>
            </a:r>
          </a:p>
        </p:txBody>
      </p:sp>
      <p:sp>
        <p:nvSpPr>
          <p:cNvPr name="TextBox 21" id="21"/>
          <p:cNvSpPr txBox="true"/>
          <p:nvPr/>
        </p:nvSpPr>
        <p:spPr>
          <a:xfrm rot="0">
            <a:off x="981723" y="2331882"/>
            <a:ext cx="1263777" cy="1007421"/>
          </a:xfrm>
          <a:prstGeom prst="rect">
            <a:avLst/>
          </a:prstGeom>
        </p:spPr>
        <p:txBody>
          <a:bodyPr anchor="t" rtlCol="false" tIns="0" lIns="0" bIns="0" rIns="0">
            <a:spAutoFit/>
          </a:bodyPr>
          <a:lstStyle/>
          <a:p>
            <a:pPr algn="l">
              <a:lnSpc>
                <a:spcPts val="2729"/>
              </a:lnSpc>
            </a:pPr>
            <a:r>
              <a:rPr lang="en-US" sz="1400" spc="-2">
                <a:solidFill>
                  <a:srgbClr val="262626"/>
                </a:solidFill>
                <a:latin typeface="IBM Plex Sans Condensed"/>
                <a:ea typeface="IBM Plex Sans Condensed"/>
                <a:cs typeface="IBM Plex Sans Condensed"/>
                <a:sym typeface="IBM Plex Sans Condensed"/>
              </a:rPr>
              <a:t>Inheritance Polymorphism Virtual Functions</a:t>
            </a:r>
          </a:p>
        </p:txBody>
      </p:sp>
      <p:sp>
        <p:nvSpPr>
          <p:cNvPr name="TextBox 22" id="22"/>
          <p:cNvSpPr txBox="true"/>
          <p:nvPr/>
        </p:nvSpPr>
        <p:spPr>
          <a:xfrm rot="0">
            <a:off x="4892392" y="2331882"/>
            <a:ext cx="2748858" cy="2436257"/>
          </a:xfrm>
          <a:prstGeom prst="rect">
            <a:avLst/>
          </a:prstGeom>
        </p:spPr>
        <p:txBody>
          <a:bodyPr anchor="t" rtlCol="false" tIns="0" lIns="0" bIns="0" rIns="0">
            <a:spAutoFit/>
          </a:bodyPr>
          <a:lstStyle/>
          <a:p>
            <a:pPr algn="l">
              <a:lnSpc>
                <a:spcPts val="2729"/>
              </a:lnSpc>
            </a:pPr>
            <a:r>
              <a:rPr lang="en-US" sz="1400" spc="-1">
                <a:solidFill>
                  <a:srgbClr val="262626"/>
                </a:solidFill>
                <a:latin typeface="IBM Plex Sans Condensed"/>
                <a:ea typeface="IBM Plex Sans Condensed"/>
                <a:cs typeface="IBM Plex Sans Condensed"/>
                <a:sym typeface="IBM Plex Sans Condensed"/>
              </a:rPr>
              <a:t>Classify zones by risk level</a:t>
            </a:r>
          </a:p>
          <a:p>
            <a:pPr algn="l">
              <a:lnSpc>
                <a:spcPts val="2729"/>
              </a:lnSpc>
            </a:pPr>
            <a:r>
              <a:rPr lang="en-US" sz="1400" spc="-1">
                <a:solidFill>
                  <a:srgbClr val="262626"/>
                </a:solidFill>
                <a:latin typeface="IBM Plex Sans Condensed"/>
                <a:ea typeface="IBM Plex Sans Condensed"/>
                <a:cs typeface="IBM Plex Sans Condensed"/>
                <a:sym typeface="IBM Plex Sans Condensed"/>
              </a:rPr>
              <a:t>Log sensor-based hazard events (gas, temperature)</a:t>
            </a:r>
          </a:p>
          <a:p>
            <a:pPr algn="l">
              <a:lnSpc>
                <a:spcPts val="2729"/>
              </a:lnSpc>
            </a:pPr>
            <a:r>
              <a:rPr lang="en-US" sz="1400" spc="-1">
                <a:solidFill>
                  <a:srgbClr val="262626"/>
                </a:solidFill>
                <a:latin typeface="IBM Plex Sans Condensed"/>
                <a:ea typeface="IBM Plex Sans Condensed"/>
                <a:cs typeface="IBM Plex Sans Condensed"/>
                <a:sym typeface="IBM Plex Sans Condensed"/>
              </a:rPr>
              <a:t>Link hazard data to affected employees</a:t>
            </a:r>
          </a:p>
          <a:p>
            <a:pPr algn="l">
              <a:lnSpc>
                <a:spcPts val="2729"/>
              </a:lnSpc>
            </a:pPr>
            <a:r>
              <a:rPr lang="en-US" sz="1400" spc="-1">
                <a:solidFill>
                  <a:srgbClr val="262626"/>
                </a:solidFill>
                <a:latin typeface="IBM Plex Sans Condensed"/>
                <a:ea typeface="IBM Plex Sans Condensed"/>
                <a:cs typeface="IBM Plex Sans Condensed"/>
                <a:sym typeface="IBM Plex Sans Condensed"/>
              </a:rPr>
              <a:t>Auto-raise alert when threshold is breached</a:t>
            </a:r>
          </a:p>
          <a:p>
            <a:pPr algn="l">
              <a:lnSpc>
                <a:spcPts val="2729"/>
              </a:lnSpc>
            </a:pPr>
            <a:r>
              <a:rPr lang="en-US" sz="1400" spc="-1">
                <a:solidFill>
                  <a:srgbClr val="262626"/>
                </a:solidFill>
                <a:latin typeface="IBM Plex Sans Condensed"/>
                <a:ea typeface="IBM Plex Sans Condensed"/>
                <a:cs typeface="IBM Plex Sans Condensed"/>
                <a:sym typeface="IBM Plex Sans Condensed"/>
              </a:rPr>
              <a:t>Notify supervisors in real time</a:t>
            </a:r>
          </a:p>
        </p:txBody>
      </p:sp>
      <p:sp>
        <p:nvSpPr>
          <p:cNvPr name="TextBox 23" id="23"/>
          <p:cNvSpPr txBox="true"/>
          <p:nvPr/>
        </p:nvSpPr>
        <p:spPr>
          <a:xfrm rot="0">
            <a:off x="8802729" y="2331882"/>
            <a:ext cx="1969941" cy="1007421"/>
          </a:xfrm>
          <a:prstGeom prst="rect">
            <a:avLst/>
          </a:prstGeom>
        </p:spPr>
        <p:txBody>
          <a:bodyPr anchor="t" rtlCol="false" tIns="0" lIns="0" bIns="0" rIns="0">
            <a:spAutoFit/>
          </a:bodyPr>
          <a:lstStyle/>
          <a:p>
            <a:pPr algn="just">
              <a:lnSpc>
                <a:spcPts val="2729"/>
              </a:lnSpc>
            </a:pPr>
            <a:r>
              <a:rPr lang="en-US" sz="1400" spc="-1">
                <a:solidFill>
                  <a:srgbClr val="262626"/>
                </a:solidFill>
                <a:latin typeface="IBM Plex Sans Condensed"/>
                <a:ea typeface="IBM Plex Sans Condensed"/>
                <a:cs typeface="IBM Plex Sans Condensed"/>
                <a:sym typeface="IBM Plex Sans Condensed"/>
              </a:rPr>
              <a:t>Real-time hazard alerts Zone risk classification log Faster emergency response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297580" y="1531668"/>
            <a:ext cx="3772357" cy="4616548"/>
          </a:xfrm>
          <a:custGeom>
            <a:avLst/>
            <a:gdLst/>
            <a:ahLst/>
            <a:cxnLst/>
            <a:rect r="r" b="b" t="t" l="l"/>
            <a:pathLst>
              <a:path h="4616548" w="3772357">
                <a:moveTo>
                  <a:pt x="0" y="0"/>
                </a:moveTo>
                <a:lnTo>
                  <a:pt x="3772357" y="0"/>
                </a:lnTo>
                <a:lnTo>
                  <a:pt x="3772357" y="4616548"/>
                </a:lnTo>
                <a:lnTo>
                  <a:pt x="0" y="46165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4208269" y="1531668"/>
            <a:ext cx="3772357" cy="4616548"/>
          </a:xfrm>
          <a:custGeom>
            <a:avLst/>
            <a:gdLst/>
            <a:ahLst/>
            <a:cxnLst/>
            <a:rect r="r" b="b" t="t" l="l"/>
            <a:pathLst>
              <a:path h="4616548" w="3772357">
                <a:moveTo>
                  <a:pt x="0" y="0"/>
                </a:moveTo>
                <a:lnTo>
                  <a:pt x="3772357" y="0"/>
                </a:lnTo>
                <a:lnTo>
                  <a:pt x="3772357" y="4616548"/>
                </a:lnTo>
                <a:lnTo>
                  <a:pt x="0" y="4616548"/>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118586" y="1531668"/>
            <a:ext cx="3772357" cy="4616548"/>
          </a:xfrm>
          <a:custGeom>
            <a:avLst/>
            <a:gdLst/>
            <a:ahLst/>
            <a:cxnLst/>
            <a:rect r="r" b="b" t="t" l="l"/>
            <a:pathLst>
              <a:path h="4616548" w="3772357">
                <a:moveTo>
                  <a:pt x="0" y="0"/>
                </a:moveTo>
                <a:lnTo>
                  <a:pt x="3772357" y="0"/>
                </a:lnTo>
                <a:lnTo>
                  <a:pt x="3772357" y="4616548"/>
                </a:lnTo>
                <a:lnTo>
                  <a:pt x="0" y="4616548"/>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1697843" y="6508404"/>
            <a:ext cx="128711"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12</a:t>
            </a:r>
          </a:p>
        </p:txBody>
      </p:sp>
      <p:sp>
        <p:nvSpPr>
          <p:cNvPr name="TextBox 11" id="11"/>
          <p:cNvSpPr txBox="true"/>
          <p:nvPr/>
        </p:nvSpPr>
        <p:spPr>
          <a:xfrm rot="0">
            <a:off x="455400" y="1001039"/>
            <a:ext cx="7466933" cy="574643"/>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Module 3: Incident, PPE &amp; Compliance</a:t>
            </a:r>
          </a:p>
        </p:txBody>
      </p:sp>
      <p:sp>
        <p:nvSpPr>
          <p:cNvPr name="TextBox 12" id="12"/>
          <p:cNvSpPr txBox="true"/>
          <p:nvPr/>
        </p:nvSpPr>
        <p:spPr>
          <a:xfrm rot="0">
            <a:off x="1246318" y="1750733"/>
            <a:ext cx="1910848" cy="282778"/>
          </a:xfrm>
          <a:prstGeom prst="rect">
            <a:avLst/>
          </a:prstGeom>
        </p:spPr>
        <p:txBody>
          <a:bodyPr anchor="t" rtlCol="false" tIns="0" lIns="0" bIns="0" rIns="0">
            <a:spAutoFit/>
          </a:bodyPr>
          <a:lstStyle/>
          <a:p>
            <a:pPr algn="l">
              <a:lnSpc>
                <a:spcPts val="2381"/>
              </a:lnSpc>
            </a:pPr>
            <a:r>
              <a:rPr lang="en-US" b="true" sz="1700" spc="-10">
                <a:solidFill>
                  <a:srgbClr val="FFFFFF"/>
                </a:solidFill>
                <a:latin typeface="Montserrat Bold"/>
                <a:ea typeface="Montserrat Bold"/>
                <a:cs typeface="Montserrat Bold"/>
                <a:sym typeface="Montserrat Bold"/>
              </a:rPr>
              <a:t>OOP Concepts Used</a:t>
            </a:r>
          </a:p>
        </p:txBody>
      </p:sp>
      <p:sp>
        <p:nvSpPr>
          <p:cNvPr name="TextBox 13" id="13"/>
          <p:cNvSpPr txBox="true"/>
          <p:nvPr/>
        </p:nvSpPr>
        <p:spPr>
          <a:xfrm rot="0">
            <a:off x="5637962" y="1750733"/>
            <a:ext cx="930421" cy="282778"/>
          </a:xfrm>
          <a:prstGeom prst="rect">
            <a:avLst/>
          </a:prstGeom>
        </p:spPr>
        <p:txBody>
          <a:bodyPr anchor="t" rtlCol="false" tIns="0" lIns="0" bIns="0" rIns="0">
            <a:spAutoFit/>
          </a:bodyPr>
          <a:lstStyle/>
          <a:p>
            <a:pPr algn="l">
              <a:lnSpc>
                <a:spcPts val="2381"/>
              </a:lnSpc>
            </a:pPr>
            <a:r>
              <a:rPr lang="en-US" b="true" sz="1700" spc="-10">
                <a:solidFill>
                  <a:srgbClr val="FFFFFF"/>
                </a:solidFill>
                <a:latin typeface="Montserrat Bold"/>
                <a:ea typeface="Montserrat Bold"/>
                <a:cs typeface="Montserrat Bold"/>
                <a:sym typeface="Montserrat Bold"/>
              </a:rPr>
              <a:t>Functions</a:t>
            </a:r>
          </a:p>
        </p:txBody>
      </p:sp>
      <p:sp>
        <p:nvSpPr>
          <p:cNvPr name="TextBox 14" id="14"/>
          <p:cNvSpPr txBox="true"/>
          <p:nvPr/>
        </p:nvSpPr>
        <p:spPr>
          <a:xfrm rot="0">
            <a:off x="9668523" y="1750733"/>
            <a:ext cx="685638" cy="282778"/>
          </a:xfrm>
          <a:prstGeom prst="rect">
            <a:avLst/>
          </a:prstGeom>
        </p:spPr>
        <p:txBody>
          <a:bodyPr anchor="t" rtlCol="false" tIns="0" lIns="0" bIns="0" rIns="0">
            <a:spAutoFit/>
          </a:bodyPr>
          <a:lstStyle/>
          <a:p>
            <a:pPr algn="l">
              <a:lnSpc>
                <a:spcPts val="2381"/>
              </a:lnSpc>
            </a:pPr>
            <a:r>
              <a:rPr lang="en-US" b="true" sz="1700" spc="-10">
                <a:solidFill>
                  <a:srgbClr val="FFFFFF"/>
                </a:solidFill>
                <a:latin typeface="Montserrat Bold"/>
                <a:ea typeface="Montserrat Bold"/>
                <a:cs typeface="Montserrat Bold"/>
                <a:sym typeface="Montserrat Bold"/>
              </a:rPr>
              <a:t>Output</a:t>
            </a:r>
          </a:p>
        </p:txBody>
      </p:sp>
      <p:sp>
        <p:nvSpPr>
          <p:cNvPr name="TextBox 15" id="15"/>
          <p:cNvSpPr txBox="true"/>
          <p:nvPr/>
        </p:nvSpPr>
        <p:spPr>
          <a:xfrm rot="0">
            <a:off x="638642" y="2326357"/>
            <a:ext cx="64399" cy="998611"/>
          </a:xfrm>
          <a:prstGeom prst="rect">
            <a:avLst/>
          </a:prstGeom>
        </p:spPr>
        <p:txBody>
          <a:bodyPr anchor="t" rtlCol="false" tIns="0" lIns="0" bIns="0" rIns="0">
            <a:spAutoFit/>
          </a:bodyPr>
          <a:lstStyle/>
          <a:p>
            <a:pPr algn="just">
              <a:lnSpc>
                <a:spcPts val="2729"/>
              </a:lnSpc>
            </a:pPr>
            <a:r>
              <a:rPr lang="en-US" sz="1400" spc="-2">
                <a:solidFill>
                  <a:srgbClr val="262626"/>
                </a:solidFill>
                <a:latin typeface="IBM Plex Sans Condensed"/>
                <a:ea typeface="IBM Plex Sans Condensed"/>
                <a:cs typeface="IBM Plex Sans Condensed"/>
                <a:sym typeface="IBM Plex Sans Condensed"/>
              </a:rPr>
              <a:t>• • •</a:t>
            </a:r>
          </a:p>
        </p:txBody>
      </p:sp>
      <p:sp>
        <p:nvSpPr>
          <p:cNvPr name="TextBox 16" id="16"/>
          <p:cNvSpPr txBox="true"/>
          <p:nvPr/>
        </p:nvSpPr>
        <p:spPr>
          <a:xfrm rot="0">
            <a:off x="4549321" y="2402557"/>
            <a:ext cx="64399" cy="229048"/>
          </a:xfrm>
          <a:prstGeom prst="rect">
            <a:avLst/>
          </a:prstGeom>
        </p:spPr>
        <p:txBody>
          <a:bodyPr anchor="t" rtlCol="false" tIns="0" lIns="0" bIns="0" rIns="0">
            <a:spAutoFit/>
          </a:bodyPr>
          <a:lstStyle/>
          <a:p>
            <a:pPr algn="l">
              <a:lnSpc>
                <a:spcPts val="1960"/>
              </a:lnSpc>
            </a:pPr>
            <a:r>
              <a:rPr lang="en-US" sz="1400" spc="-2">
                <a:solidFill>
                  <a:srgbClr val="262626"/>
                </a:solidFill>
                <a:latin typeface="IBM Plex Sans Condensed"/>
                <a:ea typeface="IBM Plex Sans Condensed"/>
                <a:cs typeface="IBM Plex Sans Condensed"/>
                <a:sym typeface="IBM Plex Sans Condensed"/>
              </a:rPr>
              <a:t>•</a:t>
            </a:r>
          </a:p>
        </p:txBody>
      </p:sp>
      <p:sp>
        <p:nvSpPr>
          <p:cNvPr name="TextBox 17" id="17"/>
          <p:cNvSpPr txBox="true"/>
          <p:nvPr/>
        </p:nvSpPr>
        <p:spPr>
          <a:xfrm rot="0">
            <a:off x="4549321" y="2918184"/>
            <a:ext cx="64399" cy="1345292"/>
          </a:xfrm>
          <a:prstGeom prst="rect">
            <a:avLst/>
          </a:prstGeom>
        </p:spPr>
        <p:txBody>
          <a:bodyPr anchor="t" rtlCol="false" tIns="0" lIns="0" bIns="0" rIns="0">
            <a:spAutoFit/>
          </a:bodyPr>
          <a:lstStyle/>
          <a:p>
            <a:pPr algn="just">
              <a:lnSpc>
                <a:spcPts val="2729"/>
              </a:lnSpc>
            </a:pPr>
            <a:r>
              <a:rPr lang="en-US" sz="1400" spc="-2">
                <a:solidFill>
                  <a:srgbClr val="262626"/>
                </a:solidFill>
                <a:latin typeface="IBM Plex Sans Condensed"/>
                <a:ea typeface="IBM Plex Sans Condensed"/>
                <a:cs typeface="IBM Plex Sans Condensed"/>
                <a:sym typeface="IBM Plex Sans Condensed"/>
              </a:rPr>
              <a:t>• • • •</a:t>
            </a:r>
          </a:p>
        </p:txBody>
      </p:sp>
      <p:sp>
        <p:nvSpPr>
          <p:cNvPr name="TextBox 18" id="18"/>
          <p:cNvSpPr txBox="true"/>
          <p:nvPr/>
        </p:nvSpPr>
        <p:spPr>
          <a:xfrm rot="0">
            <a:off x="8459638" y="2326357"/>
            <a:ext cx="64399" cy="998611"/>
          </a:xfrm>
          <a:prstGeom prst="rect">
            <a:avLst/>
          </a:prstGeom>
        </p:spPr>
        <p:txBody>
          <a:bodyPr anchor="t" rtlCol="false" tIns="0" lIns="0" bIns="0" rIns="0">
            <a:spAutoFit/>
          </a:bodyPr>
          <a:lstStyle/>
          <a:p>
            <a:pPr algn="just">
              <a:lnSpc>
                <a:spcPts val="2729"/>
              </a:lnSpc>
            </a:pPr>
            <a:r>
              <a:rPr lang="en-US" sz="1400" spc="-2">
                <a:solidFill>
                  <a:srgbClr val="262626"/>
                </a:solidFill>
                <a:latin typeface="IBM Plex Sans Condensed"/>
                <a:ea typeface="IBM Plex Sans Condensed"/>
                <a:cs typeface="IBM Plex Sans Condensed"/>
                <a:sym typeface="IBM Plex Sans Condensed"/>
              </a:rPr>
              <a:t>• • •</a:t>
            </a:r>
          </a:p>
        </p:txBody>
      </p:sp>
      <p:sp>
        <p:nvSpPr>
          <p:cNvPr name="TextBox 19" id="19"/>
          <p:cNvSpPr txBox="true"/>
          <p:nvPr/>
        </p:nvSpPr>
        <p:spPr>
          <a:xfrm rot="0">
            <a:off x="981723" y="2331882"/>
            <a:ext cx="1027967" cy="1007421"/>
          </a:xfrm>
          <a:prstGeom prst="rect">
            <a:avLst/>
          </a:prstGeom>
        </p:spPr>
        <p:txBody>
          <a:bodyPr anchor="t" rtlCol="false" tIns="0" lIns="0" bIns="0" rIns="0">
            <a:spAutoFit/>
          </a:bodyPr>
          <a:lstStyle/>
          <a:p>
            <a:pPr algn="l">
              <a:lnSpc>
                <a:spcPts val="2729"/>
              </a:lnSpc>
            </a:pPr>
            <a:r>
              <a:rPr lang="en-US" sz="1400" spc="-1">
                <a:solidFill>
                  <a:srgbClr val="262626"/>
                </a:solidFill>
                <a:latin typeface="IBM Plex Sans Condensed"/>
                <a:ea typeface="IBM Plex Sans Condensed"/>
                <a:cs typeface="IBM Plex Sans Condensed"/>
                <a:sym typeface="IBM Plex Sans Condensed"/>
              </a:rPr>
              <a:t>Encapsulation File Handling Abstraction</a:t>
            </a:r>
          </a:p>
        </p:txBody>
      </p:sp>
      <p:sp>
        <p:nvSpPr>
          <p:cNvPr name="TextBox 20" id="20"/>
          <p:cNvSpPr txBox="true"/>
          <p:nvPr/>
        </p:nvSpPr>
        <p:spPr>
          <a:xfrm rot="0">
            <a:off x="4892392" y="2331882"/>
            <a:ext cx="2462803" cy="2191102"/>
          </a:xfrm>
          <a:prstGeom prst="rect">
            <a:avLst/>
          </a:prstGeom>
        </p:spPr>
        <p:txBody>
          <a:bodyPr anchor="t" rtlCol="false" tIns="0" lIns="0" bIns="0" rIns="0">
            <a:spAutoFit/>
          </a:bodyPr>
          <a:lstStyle/>
          <a:p>
            <a:pPr algn="l">
              <a:lnSpc>
                <a:spcPts val="2729"/>
              </a:lnSpc>
            </a:pPr>
            <a:r>
              <a:rPr lang="en-US" sz="1400" spc="-1">
                <a:solidFill>
                  <a:srgbClr val="262626"/>
                </a:solidFill>
                <a:latin typeface="IBM Plex Sans Condensed"/>
                <a:ea typeface="IBM Plex Sans Condensed"/>
                <a:cs typeface="IBM Plex Sans Condensed"/>
                <a:sym typeface="IBM Plex Sans Condensed"/>
              </a:rPr>
              <a:t>Record incidents with cause &amp; severity</a:t>
            </a:r>
          </a:p>
          <a:p>
            <a:pPr algn="l">
              <a:lnSpc>
                <a:spcPts val="2729"/>
              </a:lnSpc>
            </a:pPr>
            <a:r>
              <a:rPr lang="en-US" sz="1400" spc="-1">
                <a:solidFill>
                  <a:srgbClr val="262626"/>
                </a:solidFill>
                <a:latin typeface="IBM Plex Sans Condensed"/>
                <a:ea typeface="IBM Plex Sans Condensed"/>
                <a:cs typeface="IBM Plex Sans Condensed"/>
                <a:sym typeface="IBM Plex Sans Condensed"/>
              </a:rPr>
              <a:t>Log corrective action taken</a:t>
            </a:r>
          </a:p>
          <a:p>
            <a:pPr algn="l">
              <a:lnSpc>
                <a:spcPts val="2729"/>
              </a:lnSpc>
            </a:pPr>
            <a:r>
              <a:rPr lang="en-US" sz="1400" spc="-1">
                <a:solidFill>
                  <a:srgbClr val="262626"/>
                </a:solidFill>
                <a:latin typeface="IBM Plex Sans Condensed"/>
                <a:ea typeface="IBM Plex Sans Condensed"/>
                <a:cs typeface="IBM Plex Sans Condensed"/>
                <a:sym typeface="IBM Plex Sans Condensed"/>
              </a:rPr>
              <a:t>Track PPE issuance per employee Verify PPE compliance status Generate compliance &amp; incident reports</a:t>
            </a:r>
          </a:p>
        </p:txBody>
      </p:sp>
      <p:sp>
        <p:nvSpPr>
          <p:cNvPr name="TextBox 21" id="21"/>
          <p:cNvSpPr txBox="true"/>
          <p:nvPr/>
        </p:nvSpPr>
        <p:spPr>
          <a:xfrm rot="0">
            <a:off x="8802729" y="2331882"/>
            <a:ext cx="1884331" cy="1007421"/>
          </a:xfrm>
          <a:prstGeom prst="rect">
            <a:avLst/>
          </a:prstGeom>
        </p:spPr>
        <p:txBody>
          <a:bodyPr anchor="t" rtlCol="false" tIns="0" lIns="0" bIns="0" rIns="0">
            <a:spAutoFit/>
          </a:bodyPr>
          <a:lstStyle/>
          <a:p>
            <a:pPr algn="l">
              <a:lnSpc>
                <a:spcPts val="2729"/>
              </a:lnSpc>
            </a:pPr>
            <a:r>
              <a:rPr lang="en-US" sz="1400" spc="-1">
                <a:solidFill>
                  <a:srgbClr val="262626"/>
                </a:solidFill>
                <a:latin typeface="IBM Plex Sans Condensed"/>
                <a:ea typeface="IBM Plex Sans Condensed"/>
                <a:cs typeface="IBM Plex Sans Condensed"/>
                <a:sym typeface="IBM Plex Sans Condensed"/>
              </a:rPr>
              <a:t>Digitized incident records PPE compliance report Regulatory audit trail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342205" y="5249027"/>
            <a:ext cx="506816" cy="202587"/>
          </a:xfrm>
          <a:custGeom>
            <a:avLst/>
            <a:gdLst/>
            <a:ahLst/>
            <a:cxnLst/>
            <a:rect r="r" b="b" t="t" l="l"/>
            <a:pathLst>
              <a:path h="202587" w="506816">
                <a:moveTo>
                  <a:pt x="0" y="0"/>
                </a:moveTo>
                <a:lnTo>
                  <a:pt x="506815" y="0"/>
                </a:lnTo>
                <a:lnTo>
                  <a:pt x="506815" y="202588"/>
                </a:lnTo>
                <a:lnTo>
                  <a:pt x="0" y="2025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342205" y="5508946"/>
            <a:ext cx="506816" cy="202606"/>
          </a:xfrm>
          <a:custGeom>
            <a:avLst/>
            <a:gdLst/>
            <a:ahLst/>
            <a:cxnLst/>
            <a:rect r="r" b="b" t="t" l="l"/>
            <a:pathLst>
              <a:path h="202606" w="506816">
                <a:moveTo>
                  <a:pt x="0" y="0"/>
                </a:moveTo>
                <a:lnTo>
                  <a:pt x="506815" y="0"/>
                </a:lnTo>
                <a:lnTo>
                  <a:pt x="506815" y="202606"/>
                </a:lnTo>
                <a:lnTo>
                  <a:pt x="0" y="2026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65760" y="5797801"/>
            <a:ext cx="11460594" cy="380162"/>
          </a:xfrm>
          <a:custGeom>
            <a:avLst/>
            <a:gdLst/>
            <a:ahLst/>
            <a:cxnLst/>
            <a:rect r="r" b="b" t="t" l="l"/>
            <a:pathLst>
              <a:path h="380162" w="11460594">
                <a:moveTo>
                  <a:pt x="0" y="0"/>
                </a:moveTo>
                <a:lnTo>
                  <a:pt x="11460594" y="0"/>
                </a:lnTo>
                <a:lnTo>
                  <a:pt x="11460594" y="380162"/>
                </a:lnTo>
                <a:lnTo>
                  <a:pt x="0" y="38016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365760" y="1662970"/>
            <a:ext cx="11603079" cy="4096722"/>
          </a:xfrm>
          <a:custGeom>
            <a:avLst/>
            <a:gdLst/>
            <a:ahLst/>
            <a:cxnLst/>
            <a:rect r="r" b="b" t="t" l="l"/>
            <a:pathLst>
              <a:path h="4096722" w="11603079">
                <a:moveTo>
                  <a:pt x="0" y="0"/>
                </a:moveTo>
                <a:lnTo>
                  <a:pt x="11603079" y="0"/>
                </a:lnTo>
                <a:lnTo>
                  <a:pt x="11603079" y="4096721"/>
                </a:lnTo>
                <a:lnTo>
                  <a:pt x="0" y="409672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11697843" y="6508404"/>
            <a:ext cx="128711"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13</a:t>
            </a:r>
          </a:p>
        </p:txBody>
      </p:sp>
      <p:sp>
        <p:nvSpPr>
          <p:cNvPr name="TextBox 12" id="12"/>
          <p:cNvSpPr txBox="true"/>
          <p:nvPr/>
        </p:nvSpPr>
        <p:spPr>
          <a:xfrm rot="0">
            <a:off x="455400" y="890426"/>
            <a:ext cx="3658619" cy="653548"/>
          </a:xfrm>
          <a:prstGeom prst="rect">
            <a:avLst/>
          </a:prstGeom>
        </p:spPr>
        <p:txBody>
          <a:bodyPr anchor="t" rtlCol="false" tIns="0" lIns="0" bIns="0" rIns="0">
            <a:spAutoFit/>
          </a:bodyPr>
          <a:lstStyle/>
          <a:p>
            <a:pPr algn="l">
              <a:lnSpc>
                <a:spcPts val="4758"/>
              </a:lnSpc>
            </a:pPr>
            <a:r>
              <a:rPr lang="en-US" b="true" sz="3398">
                <a:solidFill>
                  <a:srgbClr val="C00000"/>
                </a:solidFill>
                <a:latin typeface="Carlito Bold"/>
                <a:ea typeface="Carlito Bold"/>
                <a:cs typeface="Carlito Bold"/>
                <a:sym typeface="Carlito Bold"/>
              </a:rPr>
              <a:t>System Architecture</a:t>
            </a:r>
          </a:p>
        </p:txBody>
      </p:sp>
      <p:sp>
        <p:nvSpPr>
          <p:cNvPr name="TextBox 13" id="13"/>
          <p:cNvSpPr txBox="true"/>
          <p:nvPr/>
        </p:nvSpPr>
        <p:spPr>
          <a:xfrm rot="0">
            <a:off x="722519" y="1636519"/>
            <a:ext cx="954453" cy="499910"/>
          </a:xfrm>
          <a:prstGeom prst="rect">
            <a:avLst/>
          </a:prstGeom>
        </p:spPr>
        <p:txBody>
          <a:bodyPr anchor="t" rtlCol="false" tIns="0" lIns="0" bIns="0" rIns="0">
            <a:spAutoFit/>
          </a:bodyPr>
          <a:lstStyle/>
          <a:p>
            <a:pPr algn="ctr">
              <a:lnSpc>
                <a:spcPts val="2624"/>
              </a:lnSpc>
            </a:pPr>
            <a:r>
              <a:rPr lang="en-US" b="true" sz="1400" spc="-8">
                <a:solidFill>
                  <a:srgbClr val="1F3864"/>
                </a:solidFill>
                <a:latin typeface="Montserrat Bold"/>
                <a:ea typeface="Montserrat Bold"/>
                <a:cs typeface="Montserrat Bold"/>
                <a:sym typeface="Montserrat Bold"/>
              </a:rPr>
              <a:t>Users</a:t>
            </a:r>
          </a:p>
          <a:p>
            <a:pPr algn="ctr">
              <a:lnSpc>
                <a:spcPts val="1689"/>
              </a:lnSpc>
            </a:pPr>
            <a:r>
              <a:rPr lang="en-US" sz="901" spc="-1">
                <a:solidFill>
                  <a:srgbClr val="595959"/>
                </a:solidFill>
                <a:latin typeface="IBM Plex Sans Condensed"/>
                <a:ea typeface="IBM Plex Sans Condensed"/>
                <a:cs typeface="IBM Plex Sans Condensed"/>
                <a:sym typeface="IBM Plex Sans Condensed"/>
              </a:rPr>
              <a:t>(Presentation Layer)</a:t>
            </a:r>
          </a:p>
        </p:txBody>
      </p:sp>
      <p:sp>
        <p:nvSpPr>
          <p:cNvPr name="TextBox 14" id="14"/>
          <p:cNvSpPr txBox="true"/>
          <p:nvPr/>
        </p:nvSpPr>
        <p:spPr>
          <a:xfrm rot="0">
            <a:off x="2699242" y="1821247"/>
            <a:ext cx="40481" cy="205892"/>
          </a:xfrm>
          <a:prstGeom prst="rect">
            <a:avLst/>
          </a:prstGeom>
        </p:spPr>
        <p:txBody>
          <a:bodyPr anchor="t" rtlCol="false" tIns="0" lIns="0" bIns="0" rIns="0">
            <a:spAutoFit/>
          </a:bodyPr>
          <a:lstStyle/>
          <a:p>
            <a:pPr algn="l">
              <a:lnSpc>
                <a:spcPts val="1750"/>
              </a:lnSpc>
            </a:pPr>
            <a:r>
              <a:rPr lang="en-US" b="true" sz="1250" spc="-7">
                <a:solidFill>
                  <a:srgbClr val="1F3864"/>
                </a:solidFill>
                <a:latin typeface="Montserrat Bold"/>
                <a:ea typeface="Montserrat Bold"/>
                <a:cs typeface="Montserrat Bold"/>
                <a:sym typeface="Montserrat Bold"/>
              </a:rPr>
              <a:t> </a:t>
            </a:r>
          </a:p>
        </p:txBody>
      </p:sp>
      <p:sp>
        <p:nvSpPr>
          <p:cNvPr name="TextBox 15" id="15"/>
          <p:cNvSpPr txBox="true"/>
          <p:nvPr/>
        </p:nvSpPr>
        <p:spPr>
          <a:xfrm rot="0">
            <a:off x="1001167" y="2596315"/>
            <a:ext cx="585546" cy="600094"/>
          </a:xfrm>
          <a:prstGeom prst="rect">
            <a:avLst/>
          </a:prstGeom>
        </p:spPr>
        <p:txBody>
          <a:bodyPr anchor="t" rtlCol="false" tIns="0" lIns="0" bIns="0" rIns="0">
            <a:spAutoFit/>
          </a:bodyPr>
          <a:lstStyle/>
          <a:p>
            <a:pPr algn="ctr">
              <a:lnSpc>
                <a:spcPts val="1726"/>
              </a:lnSpc>
            </a:pPr>
            <a:r>
              <a:rPr lang="en-US" b="true" sz="1233" spc="-7">
                <a:solidFill>
                  <a:srgbClr val="FFFFFF"/>
                </a:solidFill>
                <a:latin typeface="Montserrat Bold"/>
                <a:ea typeface="Montserrat Bold"/>
                <a:cs typeface="Montserrat Bold"/>
                <a:sym typeface="Montserrat Bold"/>
              </a:rPr>
              <a:t>EM</a:t>
            </a:r>
          </a:p>
          <a:p>
            <a:pPr algn="ctr">
              <a:lnSpc>
                <a:spcPts val="1509"/>
              </a:lnSpc>
            </a:pPr>
            <a:r>
              <a:rPr lang="en-US" b="true" sz="1078" spc="-6">
                <a:solidFill>
                  <a:srgbClr val="1F3864"/>
                </a:solidFill>
                <a:latin typeface="Montserrat Bold"/>
                <a:ea typeface="Montserrat Bold"/>
                <a:cs typeface="Montserrat Bold"/>
                <a:sym typeface="Montserrat Bold"/>
              </a:rPr>
              <a:t>Employee</a:t>
            </a:r>
          </a:p>
        </p:txBody>
      </p:sp>
      <p:sp>
        <p:nvSpPr>
          <p:cNvPr name="TextBox 16" id="16"/>
          <p:cNvSpPr txBox="true"/>
          <p:nvPr/>
        </p:nvSpPr>
        <p:spPr>
          <a:xfrm rot="0">
            <a:off x="869566" y="3606303"/>
            <a:ext cx="804710" cy="574805"/>
          </a:xfrm>
          <a:prstGeom prst="rect">
            <a:avLst/>
          </a:prstGeom>
        </p:spPr>
        <p:txBody>
          <a:bodyPr anchor="t" rtlCol="false" tIns="0" lIns="0" bIns="0" rIns="0">
            <a:spAutoFit/>
          </a:bodyPr>
          <a:lstStyle/>
          <a:p>
            <a:pPr algn="ctr">
              <a:lnSpc>
                <a:spcPts val="1678"/>
              </a:lnSpc>
            </a:pPr>
            <a:r>
              <a:rPr lang="en-US" b="true" sz="1199" spc="-7">
                <a:solidFill>
                  <a:srgbClr val="FFFFFF"/>
                </a:solidFill>
                <a:latin typeface="Montserrat Bold"/>
                <a:ea typeface="Montserrat Bold"/>
                <a:cs typeface="Montserrat Bold"/>
                <a:sym typeface="Montserrat Bold"/>
              </a:rPr>
              <a:t>SO</a:t>
            </a:r>
          </a:p>
          <a:p>
            <a:pPr algn="ctr">
              <a:lnSpc>
                <a:spcPts val="1468"/>
              </a:lnSpc>
            </a:pPr>
            <a:r>
              <a:rPr lang="en-US" b="true" sz="1048" spc="-6">
                <a:solidFill>
                  <a:srgbClr val="1F3864"/>
                </a:solidFill>
                <a:latin typeface="Montserrat Bold"/>
                <a:ea typeface="Montserrat Bold"/>
                <a:cs typeface="Montserrat Bold"/>
                <a:sym typeface="Montserrat Bold"/>
              </a:rPr>
              <a:t>Safety Officer</a:t>
            </a:r>
          </a:p>
        </p:txBody>
      </p:sp>
      <p:sp>
        <p:nvSpPr>
          <p:cNvPr name="TextBox 17" id="17"/>
          <p:cNvSpPr txBox="true"/>
          <p:nvPr/>
        </p:nvSpPr>
        <p:spPr>
          <a:xfrm rot="0">
            <a:off x="957129" y="4684871"/>
            <a:ext cx="629583" cy="574796"/>
          </a:xfrm>
          <a:prstGeom prst="rect">
            <a:avLst/>
          </a:prstGeom>
        </p:spPr>
        <p:txBody>
          <a:bodyPr anchor="t" rtlCol="false" tIns="0" lIns="0" bIns="0" rIns="0">
            <a:spAutoFit/>
          </a:bodyPr>
          <a:lstStyle/>
          <a:p>
            <a:pPr algn="ctr">
              <a:lnSpc>
                <a:spcPts val="1678"/>
              </a:lnSpc>
            </a:pPr>
            <a:r>
              <a:rPr lang="en-US" b="true" sz="1199" spc="-7">
                <a:solidFill>
                  <a:srgbClr val="FFFFFF"/>
                </a:solidFill>
                <a:latin typeface="Montserrat Bold"/>
                <a:ea typeface="Montserrat Bold"/>
                <a:cs typeface="Montserrat Bold"/>
                <a:sym typeface="Montserrat Bold"/>
              </a:rPr>
              <a:t>SU</a:t>
            </a:r>
          </a:p>
          <a:p>
            <a:pPr algn="ctr">
              <a:lnSpc>
                <a:spcPts val="1468"/>
              </a:lnSpc>
            </a:pPr>
            <a:r>
              <a:rPr lang="en-US" b="true" sz="1048" spc="-6">
                <a:solidFill>
                  <a:srgbClr val="1F3864"/>
                </a:solidFill>
                <a:latin typeface="Montserrat Bold"/>
                <a:ea typeface="Montserrat Bold"/>
                <a:cs typeface="Montserrat Bold"/>
                <a:sym typeface="Montserrat Bold"/>
              </a:rPr>
              <a:t>Supervisor</a:t>
            </a:r>
          </a:p>
        </p:txBody>
      </p:sp>
      <p:sp>
        <p:nvSpPr>
          <p:cNvPr name="TextBox 18" id="18"/>
          <p:cNvSpPr txBox="true"/>
          <p:nvPr/>
        </p:nvSpPr>
        <p:spPr>
          <a:xfrm rot="0">
            <a:off x="2611803" y="5910339"/>
            <a:ext cx="7091429" cy="175803"/>
          </a:xfrm>
          <a:prstGeom prst="rect">
            <a:avLst/>
          </a:prstGeom>
        </p:spPr>
        <p:txBody>
          <a:bodyPr anchor="t" rtlCol="false" tIns="0" lIns="0" bIns="0" rIns="0">
            <a:spAutoFit/>
          </a:bodyPr>
          <a:lstStyle/>
          <a:p>
            <a:pPr algn="l">
              <a:lnSpc>
                <a:spcPts val="1468"/>
              </a:lnSpc>
            </a:pPr>
            <a:r>
              <a:rPr lang="en-US" b="true" sz="1048" spc="-6">
                <a:solidFill>
                  <a:srgbClr val="FFFFFF"/>
                </a:solidFill>
                <a:latin typeface="Montserrat Bold"/>
                <a:ea typeface="Montserrat Bold"/>
                <a:cs typeface="Montserrat Bold"/>
                <a:sym typeface="Montserrat Bold"/>
              </a:rPr>
              <a:t>Security Layer — Authentication • Authorization • Role-Based Access Control (Employee / Safety Officer / Supervisor)</a:t>
            </a:r>
          </a:p>
        </p:txBody>
      </p:sp>
      <p:sp>
        <p:nvSpPr>
          <p:cNvPr name="TextBox 19" id="19"/>
          <p:cNvSpPr txBox="true"/>
          <p:nvPr/>
        </p:nvSpPr>
        <p:spPr>
          <a:xfrm rot="0">
            <a:off x="915476" y="5247246"/>
            <a:ext cx="607981" cy="482270"/>
          </a:xfrm>
          <a:prstGeom prst="rect">
            <a:avLst/>
          </a:prstGeom>
        </p:spPr>
        <p:txBody>
          <a:bodyPr anchor="t" rtlCol="false" tIns="0" lIns="0" bIns="0" rIns="0">
            <a:spAutoFit/>
          </a:bodyPr>
          <a:lstStyle/>
          <a:p>
            <a:pPr algn="l">
              <a:lnSpc>
                <a:spcPts val="2046"/>
              </a:lnSpc>
            </a:pPr>
            <a:r>
              <a:rPr lang="en-US" sz="850" spc="-1">
                <a:solidFill>
                  <a:srgbClr val="595959"/>
                </a:solidFill>
                <a:latin typeface="IBM Plex Sans Condensed"/>
                <a:ea typeface="IBM Plex Sans Condensed"/>
                <a:cs typeface="IBM Plex Sans Condensed"/>
                <a:sym typeface="IBM Plex Sans Condensed"/>
              </a:rPr>
              <a:t>Data Flow External Link</a:t>
            </a:r>
          </a:p>
        </p:txBody>
      </p:sp>
      <p:sp>
        <p:nvSpPr>
          <p:cNvPr name="TextBox 20" id="20"/>
          <p:cNvSpPr txBox="true"/>
          <p:nvPr/>
        </p:nvSpPr>
        <p:spPr>
          <a:xfrm rot="0">
            <a:off x="2479319" y="2410482"/>
            <a:ext cx="1004230" cy="136627"/>
          </a:xfrm>
          <a:prstGeom prst="rect">
            <a:avLst/>
          </a:prstGeom>
        </p:spPr>
        <p:txBody>
          <a:bodyPr anchor="t" rtlCol="false" tIns="0" lIns="0" bIns="0" rIns="0">
            <a:spAutoFit/>
          </a:bodyPr>
          <a:lstStyle/>
          <a:p>
            <a:pPr algn="l">
              <a:lnSpc>
                <a:spcPts val="1190"/>
              </a:lnSpc>
            </a:pPr>
            <a:r>
              <a:rPr lang="en-US" b="true" sz="850" spc="-4">
                <a:solidFill>
                  <a:srgbClr val="1F3864"/>
                </a:solidFill>
                <a:latin typeface="Montserrat Bold"/>
                <a:ea typeface="Montserrat Bold"/>
                <a:cs typeface="Montserrat Bold"/>
                <a:sym typeface="Montserrat Bold"/>
              </a:rPr>
              <a:t>Login &amp; Registration</a:t>
            </a:r>
          </a:p>
        </p:txBody>
      </p:sp>
      <p:sp>
        <p:nvSpPr>
          <p:cNvPr name="TextBox 21" id="21"/>
          <p:cNvSpPr txBox="true"/>
          <p:nvPr/>
        </p:nvSpPr>
        <p:spPr>
          <a:xfrm rot="0">
            <a:off x="2426751" y="3766604"/>
            <a:ext cx="1111634" cy="136627"/>
          </a:xfrm>
          <a:prstGeom prst="rect">
            <a:avLst/>
          </a:prstGeom>
        </p:spPr>
        <p:txBody>
          <a:bodyPr anchor="t" rtlCol="false" tIns="0" lIns="0" bIns="0" rIns="0">
            <a:spAutoFit/>
          </a:bodyPr>
          <a:lstStyle/>
          <a:p>
            <a:pPr algn="l">
              <a:lnSpc>
                <a:spcPts val="1190"/>
              </a:lnSpc>
            </a:pPr>
            <a:r>
              <a:rPr lang="en-US" b="true" sz="850" spc="-4">
                <a:solidFill>
                  <a:srgbClr val="C00000"/>
                </a:solidFill>
                <a:latin typeface="Montserrat Bold"/>
                <a:ea typeface="Montserrat Bold"/>
                <a:cs typeface="Montserrat Bold"/>
                <a:sym typeface="Montserrat Bold"/>
              </a:rPr>
              <a:t>Employee Management</a:t>
            </a:r>
          </a:p>
        </p:txBody>
      </p:sp>
      <p:sp>
        <p:nvSpPr>
          <p:cNvPr name="TextBox 22" id="22"/>
          <p:cNvSpPr txBox="true"/>
          <p:nvPr/>
        </p:nvSpPr>
        <p:spPr>
          <a:xfrm rot="0">
            <a:off x="4078796" y="3711331"/>
            <a:ext cx="648843" cy="256708"/>
          </a:xfrm>
          <a:prstGeom prst="rect">
            <a:avLst/>
          </a:prstGeom>
        </p:spPr>
        <p:txBody>
          <a:bodyPr anchor="t" rtlCol="false" tIns="0" lIns="0" bIns="0" rIns="0">
            <a:spAutoFit/>
          </a:bodyPr>
          <a:lstStyle/>
          <a:p>
            <a:pPr algn="l">
              <a:lnSpc>
                <a:spcPts val="1020"/>
              </a:lnSpc>
            </a:pPr>
            <a:r>
              <a:rPr lang="en-US" b="true" sz="850" spc="-4">
                <a:solidFill>
                  <a:srgbClr val="C00000"/>
                </a:solidFill>
                <a:latin typeface="Montserrat Bold"/>
                <a:ea typeface="Montserrat Bold"/>
                <a:cs typeface="Montserrat Bold"/>
                <a:sym typeface="Montserrat Bold"/>
              </a:rPr>
              <a:t>Hazard Zone Management</a:t>
            </a:r>
          </a:p>
        </p:txBody>
      </p:sp>
      <p:sp>
        <p:nvSpPr>
          <p:cNvPr name="TextBox 23" id="23"/>
          <p:cNvSpPr txBox="true"/>
          <p:nvPr/>
        </p:nvSpPr>
        <p:spPr>
          <a:xfrm rot="0">
            <a:off x="3886924" y="2410482"/>
            <a:ext cx="1013698" cy="136627"/>
          </a:xfrm>
          <a:prstGeom prst="rect">
            <a:avLst/>
          </a:prstGeom>
        </p:spPr>
        <p:txBody>
          <a:bodyPr anchor="t" rtlCol="false" tIns="0" lIns="0" bIns="0" rIns="0">
            <a:spAutoFit/>
          </a:bodyPr>
          <a:lstStyle/>
          <a:p>
            <a:pPr algn="l">
              <a:lnSpc>
                <a:spcPts val="1190"/>
              </a:lnSpc>
            </a:pPr>
            <a:r>
              <a:rPr lang="en-US" b="true" sz="850" spc="-4">
                <a:solidFill>
                  <a:srgbClr val="1F3864"/>
                </a:solidFill>
                <a:latin typeface="Montserrat Bold"/>
                <a:ea typeface="Montserrat Bold"/>
                <a:cs typeface="Montserrat Bold"/>
                <a:sym typeface="Montserrat Bold"/>
              </a:rPr>
              <a:t>Employee Dashboard</a:t>
            </a:r>
          </a:p>
        </p:txBody>
      </p:sp>
      <p:sp>
        <p:nvSpPr>
          <p:cNvPr name="TextBox 24" id="24"/>
          <p:cNvSpPr txBox="true"/>
          <p:nvPr/>
        </p:nvSpPr>
        <p:spPr>
          <a:xfrm rot="0">
            <a:off x="5285527" y="2410482"/>
            <a:ext cx="1040140" cy="136627"/>
          </a:xfrm>
          <a:prstGeom prst="rect">
            <a:avLst/>
          </a:prstGeom>
        </p:spPr>
        <p:txBody>
          <a:bodyPr anchor="t" rtlCol="false" tIns="0" lIns="0" bIns="0" rIns="0">
            <a:spAutoFit/>
          </a:bodyPr>
          <a:lstStyle/>
          <a:p>
            <a:pPr algn="l">
              <a:lnSpc>
                <a:spcPts val="1190"/>
              </a:lnSpc>
            </a:pPr>
            <a:r>
              <a:rPr lang="en-US" b="true" sz="850" spc="-5">
                <a:solidFill>
                  <a:srgbClr val="1F3864"/>
                </a:solidFill>
                <a:latin typeface="Montserrat Bold"/>
                <a:ea typeface="Montserrat Bold"/>
                <a:cs typeface="Montserrat Bold"/>
                <a:sym typeface="Montserrat Bold"/>
              </a:rPr>
              <a:t>Hazard Zone Monitor</a:t>
            </a:r>
          </a:p>
        </p:txBody>
      </p:sp>
      <p:sp>
        <p:nvSpPr>
          <p:cNvPr name="TextBox 25" id="25"/>
          <p:cNvSpPr txBox="true"/>
          <p:nvPr/>
        </p:nvSpPr>
        <p:spPr>
          <a:xfrm rot="0">
            <a:off x="5286956" y="3766604"/>
            <a:ext cx="1036939" cy="136627"/>
          </a:xfrm>
          <a:prstGeom prst="rect">
            <a:avLst/>
          </a:prstGeom>
        </p:spPr>
        <p:txBody>
          <a:bodyPr anchor="t" rtlCol="false" tIns="0" lIns="0" bIns="0" rIns="0">
            <a:spAutoFit/>
          </a:bodyPr>
          <a:lstStyle/>
          <a:p>
            <a:pPr algn="l">
              <a:lnSpc>
                <a:spcPts val="1190"/>
              </a:lnSpc>
            </a:pPr>
            <a:r>
              <a:rPr lang="en-US" b="true" sz="850" spc="-5">
                <a:solidFill>
                  <a:srgbClr val="C00000"/>
                </a:solidFill>
                <a:latin typeface="Montserrat Bold"/>
                <a:ea typeface="Montserrat Bold"/>
                <a:cs typeface="Montserrat Bold"/>
                <a:sym typeface="Montserrat Bold"/>
              </a:rPr>
              <a:t>Incident Management</a:t>
            </a:r>
          </a:p>
        </p:txBody>
      </p:sp>
      <p:sp>
        <p:nvSpPr>
          <p:cNvPr name="TextBox 26" id="26"/>
          <p:cNvSpPr txBox="true"/>
          <p:nvPr/>
        </p:nvSpPr>
        <p:spPr>
          <a:xfrm rot="0">
            <a:off x="6788877" y="3766604"/>
            <a:ext cx="854078" cy="136627"/>
          </a:xfrm>
          <a:prstGeom prst="rect">
            <a:avLst/>
          </a:prstGeom>
        </p:spPr>
        <p:txBody>
          <a:bodyPr anchor="t" rtlCol="false" tIns="0" lIns="0" bIns="0" rIns="0">
            <a:spAutoFit/>
          </a:bodyPr>
          <a:lstStyle/>
          <a:p>
            <a:pPr algn="l">
              <a:lnSpc>
                <a:spcPts val="1190"/>
              </a:lnSpc>
            </a:pPr>
            <a:r>
              <a:rPr lang="en-US" b="true" sz="850" spc="-4">
                <a:solidFill>
                  <a:srgbClr val="C00000"/>
                </a:solidFill>
                <a:latin typeface="Montserrat Bold"/>
                <a:ea typeface="Montserrat Bold"/>
                <a:cs typeface="Montserrat Bold"/>
                <a:sym typeface="Montserrat Bold"/>
              </a:rPr>
              <a:t>PPE Management</a:t>
            </a:r>
          </a:p>
        </p:txBody>
      </p:sp>
      <p:sp>
        <p:nvSpPr>
          <p:cNvPr name="TextBox 27" id="27"/>
          <p:cNvSpPr txBox="true"/>
          <p:nvPr/>
        </p:nvSpPr>
        <p:spPr>
          <a:xfrm rot="0">
            <a:off x="6713992" y="2410482"/>
            <a:ext cx="1007088" cy="136627"/>
          </a:xfrm>
          <a:prstGeom prst="rect">
            <a:avLst/>
          </a:prstGeom>
        </p:spPr>
        <p:txBody>
          <a:bodyPr anchor="t" rtlCol="false" tIns="0" lIns="0" bIns="0" rIns="0">
            <a:spAutoFit/>
          </a:bodyPr>
          <a:lstStyle/>
          <a:p>
            <a:pPr algn="l">
              <a:lnSpc>
                <a:spcPts val="1190"/>
              </a:lnSpc>
            </a:pPr>
            <a:r>
              <a:rPr lang="en-US" b="true" sz="850" spc="-4">
                <a:solidFill>
                  <a:srgbClr val="1F3864"/>
                </a:solidFill>
                <a:latin typeface="Montserrat Bold"/>
                <a:ea typeface="Montserrat Bold"/>
                <a:cs typeface="Montserrat Bold"/>
                <a:sym typeface="Montserrat Bold"/>
              </a:rPr>
              <a:t>Incident &amp; PPE Desk</a:t>
            </a:r>
          </a:p>
        </p:txBody>
      </p:sp>
      <p:sp>
        <p:nvSpPr>
          <p:cNvPr name="TextBox 28" id="28"/>
          <p:cNvSpPr txBox="true"/>
          <p:nvPr/>
        </p:nvSpPr>
        <p:spPr>
          <a:xfrm rot="0">
            <a:off x="8227085" y="2410482"/>
            <a:ext cx="800976" cy="136627"/>
          </a:xfrm>
          <a:prstGeom prst="rect">
            <a:avLst/>
          </a:prstGeom>
        </p:spPr>
        <p:txBody>
          <a:bodyPr anchor="t" rtlCol="false" tIns="0" lIns="0" bIns="0" rIns="0">
            <a:spAutoFit/>
          </a:bodyPr>
          <a:lstStyle/>
          <a:p>
            <a:pPr algn="l">
              <a:lnSpc>
                <a:spcPts val="1190"/>
              </a:lnSpc>
            </a:pPr>
            <a:r>
              <a:rPr lang="en-US" b="true" sz="850" spc="-5">
                <a:solidFill>
                  <a:srgbClr val="1F3864"/>
                </a:solidFill>
                <a:latin typeface="Montserrat Bold"/>
                <a:ea typeface="Montserrat Bold"/>
                <a:cs typeface="Montserrat Bold"/>
                <a:sym typeface="Montserrat Bold"/>
              </a:rPr>
              <a:t>Reports &amp; Alerts</a:t>
            </a:r>
          </a:p>
        </p:txBody>
      </p:sp>
      <p:sp>
        <p:nvSpPr>
          <p:cNvPr name="TextBox 29" id="29"/>
          <p:cNvSpPr txBox="true"/>
          <p:nvPr/>
        </p:nvSpPr>
        <p:spPr>
          <a:xfrm rot="0">
            <a:off x="8223837" y="3766604"/>
            <a:ext cx="807263" cy="136627"/>
          </a:xfrm>
          <a:prstGeom prst="rect">
            <a:avLst/>
          </a:prstGeom>
        </p:spPr>
        <p:txBody>
          <a:bodyPr anchor="t" rtlCol="false" tIns="0" lIns="0" bIns="0" rIns="0">
            <a:spAutoFit/>
          </a:bodyPr>
          <a:lstStyle/>
          <a:p>
            <a:pPr algn="l">
              <a:lnSpc>
                <a:spcPts val="1190"/>
              </a:lnSpc>
            </a:pPr>
            <a:r>
              <a:rPr lang="en-US" b="true" sz="850" spc="-5">
                <a:solidFill>
                  <a:srgbClr val="C00000"/>
                </a:solidFill>
                <a:latin typeface="Montserrat Bold"/>
                <a:ea typeface="Montserrat Bold"/>
                <a:cs typeface="Montserrat Bold"/>
                <a:sym typeface="Montserrat Bold"/>
              </a:rPr>
              <a:t>Alerts &amp; Reports</a:t>
            </a:r>
          </a:p>
        </p:txBody>
      </p:sp>
      <p:sp>
        <p:nvSpPr>
          <p:cNvPr name="TextBox 30" id="30"/>
          <p:cNvSpPr txBox="true"/>
          <p:nvPr/>
        </p:nvSpPr>
        <p:spPr>
          <a:xfrm rot="0">
            <a:off x="9970922" y="2307879"/>
            <a:ext cx="1514932" cy="136627"/>
          </a:xfrm>
          <a:prstGeom prst="rect">
            <a:avLst/>
          </a:prstGeom>
        </p:spPr>
        <p:txBody>
          <a:bodyPr anchor="t" rtlCol="false" tIns="0" lIns="0" bIns="0" rIns="0">
            <a:spAutoFit/>
          </a:bodyPr>
          <a:lstStyle/>
          <a:p>
            <a:pPr algn="l">
              <a:lnSpc>
                <a:spcPts val="1190"/>
              </a:lnSpc>
            </a:pPr>
            <a:r>
              <a:rPr lang="en-US" sz="850" spc="0">
                <a:solidFill>
                  <a:srgbClr val="333333"/>
                </a:solidFill>
                <a:latin typeface="IBM Plex Sans Condensed"/>
                <a:ea typeface="IBM Plex Sans Condensed"/>
                <a:cs typeface="IBM Plex Sans Condensed"/>
                <a:sym typeface="IBM Plex Sans Condensed"/>
              </a:rPr>
              <a:t>Alert Notification Service (SMS / </a:t>
            </a:r>
          </a:p>
        </p:txBody>
      </p:sp>
      <p:sp>
        <p:nvSpPr>
          <p:cNvPr name="TextBox 31" id="31"/>
          <p:cNvSpPr txBox="true"/>
          <p:nvPr/>
        </p:nvSpPr>
        <p:spPr>
          <a:xfrm rot="0">
            <a:off x="10553767" y="2437486"/>
            <a:ext cx="299085" cy="136627"/>
          </a:xfrm>
          <a:prstGeom prst="rect">
            <a:avLst/>
          </a:prstGeom>
        </p:spPr>
        <p:txBody>
          <a:bodyPr anchor="t" rtlCol="false" tIns="0" lIns="0" bIns="0" rIns="0">
            <a:spAutoFit/>
          </a:bodyPr>
          <a:lstStyle/>
          <a:p>
            <a:pPr algn="l">
              <a:lnSpc>
                <a:spcPts val="1190"/>
              </a:lnSpc>
            </a:pPr>
            <a:r>
              <a:rPr lang="en-US" sz="850" spc="-1">
                <a:solidFill>
                  <a:srgbClr val="333333"/>
                </a:solidFill>
                <a:latin typeface="IBM Plex Sans Condensed"/>
                <a:ea typeface="IBM Plex Sans Condensed"/>
                <a:cs typeface="IBM Plex Sans Condensed"/>
                <a:sym typeface="IBM Plex Sans Condensed"/>
              </a:rPr>
              <a:t>Email)</a:t>
            </a:r>
          </a:p>
        </p:txBody>
      </p:sp>
      <p:sp>
        <p:nvSpPr>
          <p:cNvPr name="TextBox 32" id="32"/>
          <p:cNvSpPr txBox="true"/>
          <p:nvPr/>
        </p:nvSpPr>
        <p:spPr>
          <a:xfrm rot="0">
            <a:off x="9964798" y="3007728"/>
            <a:ext cx="1527715" cy="136627"/>
          </a:xfrm>
          <a:prstGeom prst="rect">
            <a:avLst/>
          </a:prstGeom>
        </p:spPr>
        <p:txBody>
          <a:bodyPr anchor="t" rtlCol="false" tIns="0" lIns="0" bIns="0" rIns="0">
            <a:spAutoFit/>
          </a:bodyPr>
          <a:lstStyle/>
          <a:p>
            <a:pPr algn="l">
              <a:lnSpc>
                <a:spcPts val="1190"/>
              </a:lnSpc>
            </a:pPr>
            <a:r>
              <a:rPr lang="en-US" sz="850" spc="0">
                <a:solidFill>
                  <a:srgbClr val="333333"/>
                </a:solidFill>
                <a:latin typeface="IBM Plex Sans Condensed"/>
                <a:ea typeface="IBM Plex Sans Condensed"/>
                <a:cs typeface="IBM Plex Sans Condensed"/>
                <a:sym typeface="IBM Plex Sans Condensed"/>
              </a:rPr>
              <a:t>Printer — Compliance &amp; Incident </a:t>
            </a:r>
          </a:p>
        </p:txBody>
      </p:sp>
      <p:sp>
        <p:nvSpPr>
          <p:cNvPr name="TextBox 33" id="33"/>
          <p:cNvSpPr txBox="true"/>
          <p:nvPr/>
        </p:nvSpPr>
        <p:spPr>
          <a:xfrm rot="0">
            <a:off x="10533240" y="3137335"/>
            <a:ext cx="342710" cy="136627"/>
          </a:xfrm>
          <a:prstGeom prst="rect">
            <a:avLst/>
          </a:prstGeom>
        </p:spPr>
        <p:txBody>
          <a:bodyPr anchor="t" rtlCol="false" tIns="0" lIns="0" bIns="0" rIns="0">
            <a:spAutoFit/>
          </a:bodyPr>
          <a:lstStyle/>
          <a:p>
            <a:pPr algn="l">
              <a:lnSpc>
                <a:spcPts val="1190"/>
              </a:lnSpc>
            </a:pPr>
            <a:r>
              <a:rPr lang="en-US" sz="850" spc="-1">
                <a:solidFill>
                  <a:srgbClr val="333333"/>
                </a:solidFill>
                <a:latin typeface="IBM Plex Sans Condensed"/>
                <a:ea typeface="IBM Plex Sans Condensed"/>
                <a:cs typeface="IBM Plex Sans Condensed"/>
                <a:sym typeface="IBM Plex Sans Condensed"/>
              </a:rPr>
              <a:t>Reports</a:t>
            </a:r>
          </a:p>
        </p:txBody>
      </p:sp>
      <p:sp>
        <p:nvSpPr>
          <p:cNvPr name="TextBox 34" id="34"/>
          <p:cNvSpPr txBox="true"/>
          <p:nvPr/>
        </p:nvSpPr>
        <p:spPr>
          <a:xfrm rot="0">
            <a:off x="9828362" y="4688205"/>
            <a:ext cx="1805759" cy="136627"/>
          </a:xfrm>
          <a:prstGeom prst="rect">
            <a:avLst/>
          </a:prstGeom>
        </p:spPr>
        <p:txBody>
          <a:bodyPr anchor="t" rtlCol="false" tIns="0" lIns="0" bIns="0" rIns="0">
            <a:spAutoFit/>
          </a:bodyPr>
          <a:lstStyle/>
          <a:p>
            <a:pPr algn="l">
              <a:lnSpc>
                <a:spcPts val="1190"/>
              </a:lnSpc>
            </a:pPr>
            <a:r>
              <a:rPr lang="en-US" sz="850" spc="0">
                <a:solidFill>
                  <a:srgbClr val="333333"/>
                </a:solidFill>
                <a:latin typeface="IBM Plex Sans Condensed"/>
                <a:ea typeface="IBM Plex Sans Condensed"/>
                <a:cs typeface="IBM Plex Sans Condensed"/>
                <a:sym typeface="IBM Plex Sans Condensed"/>
              </a:rPr>
              <a:t>Employee records, incident logs, PPE &amp; </a:t>
            </a:r>
          </a:p>
        </p:txBody>
      </p:sp>
      <p:sp>
        <p:nvSpPr>
          <p:cNvPr name="TextBox 35" id="35"/>
          <p:cNvSpPr txBox="true"/>
          <p:nvPr/>
        </p:nvSpPr>
        <p:spPr>
          <a:xfrm rot="0">
            <a:off x="9918354" y="4817812"/>
            <a:ext cx="1594028" cy="136627"/>
          </a:xfrm>
          <a:prstGeom prst="rect">
            <a:avLst/>
          </a:prstGeom>
        </p:spPr>
        <p:txBody>
          <a:bodyPr anchor="t" rtlCol="false" tIns="0" lIns="0" bIns="0" rIns="0">
            <a:spAutoFit/>
          </a:bodyPr>
          <a:lstStyle/>
          <a:p>
            <a:pPr algn="l">
              <a:lnSpc>
                <a:spcPts val="1190"/>
              </a:lnSpc>
            </a:pPr>
            <a:r>
              <a:rPr lang="en-US" sz="850" spc="-1">
                <a:solidFill>
                  <a:srgbClr val="333333"/>
                </a:solidFill>
                <a:latin typeface="IBM Plex Sans Condensed"/>
                <a:ea typeface="IBM Plex Sans Condensed"/>
                <a:cs typeface="IBM Plex Sans Condensed"/>
                <a:sym typeface="IBM Plex Sans Condensed"/>
              </a:rPr>
              <a:t>training data, and backup (.dat) files</a:t>
            </a:r>
          </a:p>
        </p:txBody>
      </p:sp>
      <p:sp>
        <p:nvSpPr>
          <p:cNvPr name="TextBox 36" id="36"/>
          <p:cNvSpPr txBox="true"/>
          <p:nvPr/>
        </p:nvSpPr>
        <p:spPr>
          <a:xfrm rot="0">
            <a:off x="2385365" y="3177359"/>
            <a:ext cx="2807189" cy="205892"/>
          </a:xfrm>
          <a:prstGeom prst="rect">
            <a:avLst/>
          </a:prstGeom>
        </p:spPr>
        <p:txBody>
          <a:bodyPr anchor="t" rtlCol="false" tIns="0" lIns="0" bIns="0" rIns="0">
            <a:spAutoFit/>
          </a:bodyPr>
          <a:lstStyle/>
          <a:p>
            <a:pPr algn="l">
              <a:lnSpc>
                <a:spcPts val="1750"/>
              </a:lnSpc>
            </a:pPr>
            <a:r>
              <a:rPr lang="en-US" b="true" sz="1250" spc="-7">
                <a:solidFill>
                  <a:srgbClr val="C00000"/>
                </a:solidFill>
                <a:latin typeface="Montserrat Bold"/>
                <a:ea typeface="Montserrat Bold"/>
                <a:cs typeface="Montserrat Bold"/>
                <a:sym typeface="Montserrat Bold"/>
              </a:rPr>
              <a:t>Application Layer — C++ OOP Classes</a:t>
            </a:r>
          </a:p>
        </p:txBody>
      </p:sp>
      <p:sp>
        <p:nvSpPr>
          <p:cNvPr name="TextBox 37" id="37"/>
          <p:cNvSpPr txBox="true"/>
          <p:nvPr/>
        </p:nvSpPr>
        <p:spPr>
          <a:xfrm rot="0">
            <a:off x="2385365" y="4533128"/>
            <a:ext cx="2814961" cy="205892"/>
          </a:xfrm>
          <a:prstGeom prst="rect">
            <a:avLst/>
          </a:prstGeom>
        </p:spPr>
        <p:txBody>
          <a:bodyPr anchor="t" rtlCol="false" tIns="0" lIns="0" bIns="0" rIns="0">
            <a:spAutoFit/>
          </a:bodyPr>
          <a:lstStyle/>
          <a:p>
            <a:pPr algn="l">
              <a:lnSpc>
                <a:spcPts val="1750"/>
              </a:lnSpc>
            </a:pPr>
            <a:r>
              <a:rPr lang="en-US" b="true" sz="1250" spc="-7">
                <a:solidFill>
                  <a:srgbClr val="E8720C"/>
                </a:solidFill>
                <a:latin typeface="Montserrat Bold"/>
                <a:ea typeface="Montserrat Bold"/>
                <a:cs typeface="Montserrat Bold"/>
                <a:sym typeface="Montserrat Bold"/>
              </a:rPr>
              <a:t>Data Layer — File-Based Storage (.dat)</a:t>
            </a:r>
          </a:p>
        </p:txBody>
      </p:sp>
      <p:sp>
        <p:nvSpPr>
          <p:cNvPr name="TextBox 38" id="38"/>
          <p:cNvSpPr txBox="true"/>
          <p:nvPr/>
        </p:nvSpPr>
        <p:spPr>
          <a:xfrm rot="0">
            <a:off x="2385365" y="1821247"/>
            <a:ext cx="3366202" cy="205892"/>
          </a:xfrm>
          <a:prstGeom prst="rect">
            <a:avLst/>
          </a:prstGeom>
        </p:spPr>
        <p:txBody>
          <a:bodyPr anchor="t" rtlCol="false" tIns="0" lIns="0" bIns="0" rIns="0">
            <a:spAutoFit/>
          </a:bodyPr>
          <a:lstStyle/>
          <a:p>
            <a:pPr algn="l">
              <a:lnSpc>
                <a:spcPts val="1750"/>
              </a:lnSpc>
            </a:pPr>
            <a:r>
              <a:rPr lang="en-US" b="true" sz="1250" spc="-7">
                <a:solidFill>
                  <a:srgbClr val="1F3864"/>
                </a:solidFill>
                <a:latin typeface="Montserrat Bold"/>
                <a:ea typeface="Montserrat Bold"/>
                <a:cs typeface="Montserrat Bold"/>
                <a:sym typeface="Montserrat Bold"/>
              </a:rPr>
              <a:t>UserInterface—Console/Menu-Driven (C++)</a:t>
            </a:r>
          </a:p>
        </p:txBody>
      </p:sp>
      <p:sp>
        <p:nvSpPr>
          <p:cNvPr name="TextBox 39" id="39"/>
          <p:cNvSpPr txBox="true"/>
          <p:nvPr/>
        </p:nvSpPr>
        <p:spPr>
          <a:xfrm rot="0">
            <a:off x="2651408" y="4903003"/>
            <a:ext cx="651767" cy="138532"/>
          </a:xfrm>
          <a:prstGeom prst="rect">
            <a:avLst/>
          </a:prstGeom>
        </p:spPr>
        <p:txBody>
          <a:bodyPr anchor="t" rtlCol="false" tIns="0" lIns="0" bIns="0" rIns="0">
            <a:spAutoFit/>
          </a:bodyPr>
          <a:lstStyle/>
          <a:p>
            <a:pPr algn="l">
              <a:lnSpc>
                <a:spcPts val="1119"/>
              </a:lnSpc>
            </a:pPr>
            <a:r>
              <a:rPr lang="en-US" b="true" sz="799" spc="-2">
                <a:solidFill>
                  <a:srgbClr val="FFFFFF"/>
                </a:solidFill>
                <a:latin typeface="Montserrat Bold"/>
                <a:ea typeface="Montserrat Bold"/>
                <a:cs typeface="Montserrat Bold"/>
                <a:sym typeface="Montserrat Bold"/>
              </a:rPr>
              <a:t>EMPLOYEES</a:t>
            </a:r>
          </a:p>
        </p:txBody>
      </p:sp>
      <p:sp>
        <p:nvSpPr>
          <p:cNvPr name="TextBox 40" id="40"/>
          <p:cNvSpPr txBox="true"/>
          <p:nvPr/>
        </p:nvSpPr>
        <p:spPr>
          <a:xfrm rot="0">
            <a:off x="3964686" y="4903003"/>
            <a:ext cx="854012" cy="138532"/>
          </a:xfrm>
          <a:prstGeom prst="rect">
            <a:avLst/>
          </a:prstGeom>
        </p:spPr>
        <p:txBody>
          <a:bodyPr anchor="t" rtlCol="false" tIns="0" lIns="0" bIns="0" rIns="0">
            <a:spAutoFit/>
          </a:bodyPr>
          <a:lstStyle/>
          <a:p>
            <a:pPr algn="l">
              <a:lnSpc>
                <a:spcPts val="1119"/>
              </a:lnSpc>
            </a:pPr>
            <a:r>
              <a:rPr lang="en-US" b="true" sz="799" spc="-4">
                <a:solidFill>
                  <a:srgbClr val="FFFFFF"/>
                </a:solidFill>
                <a:latin typeface="Montserrat Bold"/>
                <a:ea typeface="Montserrat Bold"/>
                <a:cs typeface="Montserrat Bold"/>
                <a:sym typeface="Montserrat Bold"/>
              </a:rPr>
              <a:t>HAZ ARD _Z ON ES</a:t>
            </a:r>
          </a:p>
        </p:txBody>
      </p:sp>
      <p:sp>
        <p:nvSpPr>
          <p:cNvPr name="TextBox 41" id="41"/>
          <p:cNvSpPr txBox="true"/>
          <p:nvPr/>
        </p:nvSpPr>
        <p:spPr>
          <a:xfrm rot="0">
            <a:off x="5511965" y="4903003"/>
            <a:ext cx="577215" cy="138532"/>
          </a:xfrm>
          <a:prstGeom prst="rect">
            <a:avLst/>
          </a:prstGeom>
        </p:spPr>
        <p:txBody>
          <a:bodyPr anchor="t" rtlCol="false" tIns="0" lIns="0" bIns="0" rIns="0">
            <a:spAutoFit/>
          </a:bodyPr>
          <a:lstStyle/>
          <a:p>
            <a:pPr algn="l">
              <a:lnSpc>
                <a:spcPts val="1119"/>
              </a:lnSpc>
            </a:pPr>
            <a:r>
              <a:rPr lang="en-US" b="true" sz="799" spc="-3">
                <a:solidFill>
                  <a:srgbClr val="FFFFFF"/>
                </a:solidFill>
                <a:latin typeface="Montserrat Bold"/>
                <a:ea typeface="Montserrat Bold"/>
                <a:cs typeface="Montserrat Bold"/>
                <a:sym typeface="Montserrat Bold"/>
              </a:rPr>
              <a:t>INCIDENTS</a:t>
            </a:r>
          </a:p>
        </p:txBody>
      </p:sp>
      <p:sp>
        <p:nvSpPr>
          <p:cNvPr name="TextBox 42" id="42"/>
          <p:cNvSpPr txBox="true"/>
          <p:nvPr/>
        </p:nvSpPr>
        <p:spPr>
          <a:xfrm rot="0">
            <a:off x="6836769" y="4903003"/>
            <a:ext cx="755847" cy="138532"/>
          </a:xfrm>
          <a:prstGeom prst="rect">
            <a:avLst/>
          </a:prstGeom>
        </p:spPr>
        <p:txBody>
          <a:bodyPr anchor="t" rtlCol="false" tIns="0" lIns="0" bIns="0" rIns="0">
            <a:spAutoFit/>
          </a:bodyPr>
          <a:lstStyle/>
          <a:p>
            <a:pPr algn="l">
              <a:lnSpc>
                <a:spcPts val="1119"/>
              </a:lnSpc>
            </a:pPr>
            <a:r>
              <a:rPr lang="en-US" b="true" sz="799" spc="-2">
                <a:solidFill>
                  <a:srgbClr val="FFFFFF"/>
                </a:solidFill>
                <a:latin typeface="Montserrat Bold"/>
                <a:ea typeface="Montserrat Bold"/>
                <a:cs typeface="Montserrat Bold"/>
                <a:sym typeface="Montserrat Bold"/>
              </a:rPr>
              <a:t>PPE_RECORDS</a:t>
            </a:r>
          </a:p>
        </p:txBody>
      </p:sp>
      <p:sp>
        <p:nvSpPr>
          <p:cNvPr name="TextBox 43" id="43"/>
          <p:cNvSpPr txBox="true"/>
          <p:nvPr/>
        </p:nvSpPr>
        <p:spPr>
          <a:xfrm rot="0">
            <a:off x="8359207" y="4903003"/>
            <a:ext cx="530609" cy="138532"/>
          </a:xfrm>
          <a:prstGeom prst="rect">
            <a:avLst/>
          </a:prstGeom>
        </p:spPr>
        <p:txBody>
          <a:bodyPr anchor="t" rtlCol="false" tIns="0" lIns="0" bIns="0" rIns="0">
            <a:spAutoFit/>
          </a:bodyPr>
          <a:lstStyle/>
          <a:p>
            <a:pPr algn="l">
              <a:lnSpc>
                <a:spcPts val="1119"/>
              </a:lnSpc>
            </a:pPr>
            <a:r>
              <a:rPr lang="en-US" b="true" sz="799" spc="-4">
                <a:solidFill>
                  <a:srgbClr val="FFFFFF"/>
                </a:solidFill>
                <a:latin typeface="Montserrat Bold"/>
                <a:ea typeface="Montserrat Bold"/>
                <a:cs typeface="Montserrat Bold"/>
                <a:sym typeface="Montserrat Bold"/>
              </a:rPr>
              <a:t>TR AININ G</a:t>
            </a:r>
          </a:p>
        </p:txBody>
      </p:sp>
      <p:sp>
        <p:nvSpPr>
          <p:cNvPr name="TextBox 44" id="44"/>
          <p:cNvSpPr txBox="true"/>
          <p:nvPr/>
        </p:nvSpPr>
        <p:spPr>
          <a:xfrm rot="0">
            <a:off x="2630881" y="5285613"/>
            <a:ext cx="695516" cy="114176"/>
          </a:xfrm>
          <a:prstGeom prst="rect">
            <a:avLst/>
          </a:prstGeom>
        </p:spPr>
        <p:txBody>
          <a:bodyPr anchor="t" rtlCol="false" tIns="0" lIns="0" bIns="0" rIns="0">
            <a:spAutoFit/>
          </a:bodyPr>
          <a:lstStyle/>
          <a:p>
            <a:pPr algn="l">
              <a:lnSpc>
                <a:spcPts val="980"/>
              </a:lnSpc>
            </a:pPr>
            <a:r>
              <a:rPr lang="en-US" sz="700" spc="-1">
                <a:solidFill>
                  <a:srgbClr val="595959"/>
                </a:solidFill>
                <a:latin typeface="IBM Plex Sans Condensed"/>
                <a:ea typeface="IBM Plex Sans Condensed"/>
                <a:cs typeface="IBM Plex Sans Condensed"/>
                <a:sym typeface="IBM Plex Sans Condensed"/>
              </a:rPr>
              <a:t>emp_id, name, role</a:t>
            </a:r>
          </a:p>
        </p:txBody>
      </p:sp>
      <p:sp>
        <p:nvSpPr>
          <p:cNvPr name="TextBox 45" id="45"/>
          <p:cNvSpPr txBox="true"/>
          <p:nvPr/>
        </p:nvSpPr>
        <p:spPr>
          <a:xfrm rot="0">
            <a:off x="4047477" y="5285613"/>
            <a:ext cx="685267" cy="114176"/>
          </a:xfrm>
          <a:prstGeom prst="rect">
            <a:avLst/>
          </a:prstGeom>
        </p:spPr>
        <p:txBody>
          <a:bodyPr anchor="t" rtlCol="false" tIns="0" lIns="0" bIns="0" rIns="0">
            <a:spAutoFit/>
          </a:bodyPr>
          <a:lstStyle/>
          <a:p>
            <a:pPr algn="l">
              <a:lnSpc>
                <a:spcPts val="980"/>
              </a:lnSpc>
            </a:pPr>
            <a:r>
              <a:rPr lang="en-US" sz="700" spc="-1">
                <a:solidFill>
                  <a:srgbClr val="595959"/>
                </a:solidFill>
                <a:latin typeface="IBM Plex Sans Condensed"/>
                <a:ea typeface="IBM Plex Sans Condensed"/>
                <a:cs typeface="IBM Plex Sans Condensed"/>
                <a:sym typeface="IBM Plex Sans Condensed"/>
              </a:rPr>
              <a:t>zone_id, risk_level</a:t>
            </a:r>
          </a:p>
        </p:txBody>
      </p:sp>
      <p:sp>
        <p:nvSpPr>
          <p:cNvPr name="TextBox 46" id="46"/>
          <p:cNvSpPr txBox="true"/>
          <p:nvPr/>
        </p:nvSpPr>
        <p:spPr>
          <a:xfrm rot="0">
            <a:off x="5435279" y="5285613"/>
            <a:ext cx="735063" cy="114176"/>
          </a:xfrm>
          <a:prstGeom prst="rect">
            <a:avLst/>
          </a:prstGeom>
        </p:spPr>
        <p:txBody>
          <a:bodyPr anchor="t" rtlCol="false" tIns="0" lIns="0" bIns="0" rIns="0">
            <a:spAutoFit/>
          </a:bodyPr>
          <a:lstStyle/>
          <a:p>
            <a:pPr algn="l">
              <a:lnSpc>
                <a:spcPts val="980"/>
              </a:lnSpc>
            </a:pPr>
            <a:r>
              <a:rPr lang="en-US" sz="700" spc="-1">
                <a:solidFill>
                  <a:srgbClr val="595959"/>
                </a:solidFill>
                <a:latin typeface="IBM Plex Sans Condensed"/>
                <a:ea typeface="IBM Plex Sans Condensed"/>
                <a:cs typeface="IBM Plex Sans Condensed"/>
                <a:sym typeface="IBM Plex Sans Condensed"/>
              </a:rPr>
              <a:t>incident_id, severity</a:t>
            </a:r>
          </a:p>
        </p:txBody>
      </p:sp>
      <p:sp>
        <p:nvSpPr>
          <p:cNvPr name="TextBox 47" id="47"/>
          <p:cNvSpPr txBox="true"/>
          <p:nvPr/>
        </p:nvSpPr>
        <p:spPr>
          <a:xfrm rot="0">
            <a:off x="6851875" y="5285613"/>
            <a:ext cx="725176" cy="114176"/>
          </a:xfrm>
          <a:prstGeom prst="rect">
            <a:avLst/>
          </a:prstGeom>
        </p:spPr>
        <p:txBody>
          <a:bodyPr anchor="t" rtlCol="false" tIns="0" lIns="0" bIns="0" rIns="0">
            <a:spAutoFit/>
          </a:bodyPr>
          <a:lstStyle/>
          <a:p>
            <a:pPr algn="l">
              <a:lnSpc>
                <a:spcPts val="980"/>
              </a:lnSpc>
            </a:pPr>
            <a:r>
              <a:rPr lang="en-US" sz="700" spc="-1">
                <a:solidFill>
                  <a:srgbClr val="595959"/>
                </a:solidFill>
                <a:latin typeface="IBM Plex Sans Condensed"/>
                <a:ea typeface="IBM Plex Sans Condensed"/>
                <a:cs typeface="IBM Plex Sans Condensed"/>
                <a:sym typeface="IBM Plex Sans Condensed"/>
              </a:rPr>
              <a:t>emp_id, item, status</a:t>
            </a:r>
          </a:p>
        </p:txBody>
      </p:sp>
      <p:sp>
        <p:nvSpPr>
          <p:cNvPr name="TextBox 48" id="48"/>
          <p:cNvSpPr txBox="true"/>
          <p:nvPr/>
        </p:nvSpPr>
        <p:spPr>
          <a:xfrm rot="0">
            <a:off x="8263804" y="5285613"/>
            <a:ext cx="725453" cy="114176"/>
          </a:xfrm>
          <a:prstGeom prst="rect">
            <a:avLst/>
          </a:prstGeom>
        </p:spPr>
        <p:txBody>
          <a:bodyPr anchor="t" rtlCol="false" tIns="0" lIns="0" bIns="0" rIns="0">
            <a:spAutoFit/>
          </a:bodyPr>
          <a:lstStyle/>
          <a:p>
            <a:pPr algn="l">
              <a:lnSpc>
                <a:spcPts val="980"/>
              </a:lnSpc>
            </a:pPr>
            <a:r>
              <a:rPr lang="en-US" sz="700" spc="-1">
                <a:solidFill>
                  <a:srgbClr val="595959"/>
                </a:solidFill>
                <a:latin typeface="IBM Plex Sans Condensed"/>
                <a:ea typeface="IBM Plex Sans Condensed"/>
                <a:cs typeface="IBM Plex Sans Condensed"/>
                <a:sym typeface="IBM Plex Sans Condensed"/>
              </a:rPr>
              <a:t>emp_id, cert, expiry</a:t>
            </a:r>
          </a:p>
        </p:txBody>
      </p:sp>
      <p:sp>
        <p:nvSpPr>
          <p:cNvPr name="TextBox 49" id="49"/>
          <p:cNvSpPr txBox="true"/>
          <p:nvPr/>
        </p:nvSpPr>
        <p:spPr>
          <a:xfrm rot="0">
            <a:off x="9786242" y="3819620"/>
            <a:ext cx="732149" cy="192948"/>
          </a:xfrm>
          <a:prstGeom prst="rect">
            <a:avLst/>
          </a:prstGeom>
        </p:spPr>
        <p:txBody>
          <a:bodyPr anchor="t" rtlCol="false" tIns="0" lIns="0" bIns="0" rIns="0">
            <a:spAutoFit/>
          </a:bodyPr>
          <a:lstStyle/>
          <a:p>
            <a:pPr algn="l">
              <a:lnSpc>
                <a:spcPts val="1539"/>
              </a:lnSpc>
            </a:pPr>
            <a:r>
              <a:rPr lang="en-US" b="true" sz="1099" spc="-5">
                <a:solidFill>
                  <a:srgbClr val="44546A"/>
                </a:solidFill>
                <a:latin typeface="Montserrat Bold"/>
                <a:ea typeface="Montserrat Bold"/>
                <a:cs typeface="Montserrat Bold"/>
                <a:sym typeface="Montserrat Bold"/>
              </a:rPr>
              <a:t>File Storage</a:t>
            </a:r>
          </a:p>
        </p:txBody>
      </p:sp>
      <p:sp>
        <p:nvSpPr>
          <p:cNvPr name="TextBox 50" id="50"/>
          <p:cNvSpPr txBox="true"/>
          <p:nvPr/>
        </p:nvSpPr>
        <p:spPr>
          <a:xfrm rot="0">
            <a:off x="9786242" y="1819827"/>
            <a:ext cx="1336491" cy="192948"/>
          </a:xfrm>
          <a:prstGeom prst="rect">
            <a:avLst/>
          </a:prstGeom>
        </p:spPr>
        <p:txBody>
          <a:bodyPr anchor="t" rtlCol="false" tIns="0" lIns="0" bIns="0" rIns="0">
            <a:spAutoFit/>
          </a:bodyPr>
          <a:lstStyle/>
          <a:p>
            <a:pPr algn="l">
              <a:lnSpc>
                <a:spcPts val="1539"/>
              </a:lnSpc>
            </a:pPr>
            <a:r>
              <a:rPr lang="en-US" b="true" sz="1099" spc="-5">
                <a:solidFill>
                  <a:srgbClr val="44546A"/>
                </a:solidFill>
                <a:latin typeface="Montserrat Bold"/>
                <a:ea typeface="Montserrat Bold"/>
                <a:cs typeface="Montserrat Bold"/>
                <a:sym typeface="Montserrat Bold"/>
              </a:rPr>
              <a:t>External Components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772058" y="2038188"/>
            <a:ext cx="687162" cy="997115"/>
          </a:xfrm>
          <a:custGeom>
            <a:avLst/>
            <a:gdLst/>
            <a:ahLst/>
            <a:cxnLst/>
            <a:rect r="r" b="b" t="t" l="l"/>
            <a:pathLst>
              <a:path h="997115" w="687162">
                <a:moveTo>
                  <a:pt x="0" y="0"/>
                </a:moveTo>
                <a:lnTo>
                  <a:pt x="687162" y="0"/>
                </a:lnTo>
                <a:lnTo>
                  <a:pt x="687162" y="997115"/>
                </a:lnTo>
                <a:lnTo>
                  <a:pt x="0" y="9971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72058" y="3411579"/>
            <a:ext cx="687162" cy="997125"/>
          </a:xfrm>
          <a:custGeom>
            <a:avLst/>
            <a:gdLst/>
            <a:ahLst/>
            <a:cxnLst/>
            <a:rect r="r" b="b" t="t" l="l"/>
            <a:pathLst>
              <a:path h="997125" w="687162">
                <a:moveTo>
                  <a:pt x="0" y="0"/>
                </a:moveTo>
                <a:lnTo>
                  <a:pt x="687162" y="0"/>
                </a:lnTo>
                <a:lnTo>
                  <a:pt x="687162" y="997124"/>
                </a:lnTo>
                <a:lnTo>
                  <a:pt x="0" y="9971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772058" y="4784979"/>
            <a:ext cx="687162" cy="997115"/>
          </a:xfrm>
          <a:custGeom>
            <a:avLst/>
            <a:gdLst/>
            <a:ahLst/>
            <a:cxnLst/>
            <a:rect r="r" b="b" t="t" l="l"/>
            <a:pathLst>
              <a:path h="997115" w="687162">
                <a:moveTo>
                  <a:pt x="0" y="0"/>
                </a:moveTo>
                <a:lnTo>
                  <a:pt x="687162" y="0"/>
                </a:lnTo>
                <a:lnTo>
                  <a:pt x="687162" y="997115"/>
                </a:lnTo>
                <a:lnTo>
                  <a:pt x="0" y="9971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802006" y="1576473"/>
            <a:ext cx="9731626" cy="4696492"/>
          </a:xfrm>
          <a:custGeom>
            <a:avLst/>
            <a:gdLst/>
            <a:ahLst/>
            <a:cxnLst/>
            <a:rect r="r" b="b" t="t" l="l"/>
            <a:pathLst>
              <a:path h="4696492" w="9731626">
                <a:moveTo>
                  <a:pt x="0" y="0"/>
                </a:moveTo>
                <a:lnTo>
                  <a:pt x="9731626" y="0"/>
                </a:lnTo>
                <a:lnTo>
                  <a:pt x="9731626" y="4696492"/>
                </a:lnTo>
                <a:lnTo>
                  <a:pt x="0" y="469649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11697843" y="6508404"/>
            <a:ext cx="128711"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14</a:t>
            </a:r>
          </a:p>
        </p:txBody>
      </p:sp>
      <p:sp>
        <p:nvSpPr>
          <p:cNvPr name="TextBox 12" id="12"/>
          <p:cNvSpPr txBox="true"/>
          <p:nvPr/>
        </p:nvSpPr>
        <p:spPr>
          <a:xfrm rot="0">
            <a:off x="455400" y="1001039"/>
            <a:ext cx="3465786" cy="574643"/>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Use Case Diagram</a:t>
            </a:r>
          </a:p>
        </p:txBody>
      </p:sp>
      <p:sp>
        <p:nvSpPr>
          <p:cNvPr name="TextBox 13" id="13"/>
          <p:cNvSpPr txBox="true"/>
          <p:nvPr/>
        </p:nvSpPr>
        <p:spPr>
          <a:xfrm rot="0">
            <a:off x="4296604" y="1791376"/>
            <a:ext cx="5013436" cy="205892"/>
          </a:xfrm>
          <a:prstGeom prst="rect">
            <a:avLst/>
          </a:prstGeom>
        </p:spPr>
        <p:txBody>
          <a:bodyPr anchor="t" rtlCol="false" tIns="0" lIns="0" bIns="0" rIns="0">
            <a:spAutoFit/>
          </a:bodyPr>
          <a:lstStyle/>
          <a:p>
            <a:pPr algn="l">
              <a:lnSpc>
                <a:spcPts val="1750"/>
              </a:lnSpc>
            </a:pPr>
            <a:r>
              <a:rPr lang="en-US" b="true" sz="1250" spc="-7">
                <a:solidFill>
                  <a:srgbClr val="44546A"/>
                </a:solidFill>
                <a:latin typeface="Montserrat Bold"/>
                <a:ea typeface="Montserrat Bold"/>
                <a:cs typeface="Montserrat Bold"/>
                <a:sym typeface="Montserrat Bold"/>
              </a:rPr>
              <a:t>Industrial Employee Safety &amp; Occupational Health Management System</a:t>
            </a:r>
          </a:p>
        </p:txBody>
      </p:sp>
      <p:sp>
        <p:nvSpPr>
          <p:cNvPr name="TextBox 14" id="14"/>
          <p:cNvSpPr txBox="true"/>
          <p:nvPr/>
        </p:nvSpPr>
        <p:spPr>
          <a:xfrm rot="0">
            <a:off x="806758" y="5855008"/>
            <a:ext cx="628402" cy="200587"/>
          </a:xfrm>
          <a:prstGeom prst="rect">
            <a:avLst/>
          </a:prstGeom>
        </p:spPr>
        <p:txBody>
          <a:bodyPr anchor="t" rtlCol="false" tIns="0" lIns="0" bIns="0" rIns="0">
            <a:spAutoFit/>
          </a:bodyPr>
          <a:lstStyle/>
          <a:p>
            <a:pPr algn="l">
              <a:lnSpc>
                <a:spcPts val="1611"/>
              </a:lnSpc>
            </a:pPr>
            <a:r>
              <a:rPr lang="en-US" b="true" sz="1150" spc="-6">
                <a:solidFill>
                  <a:srgbClr val="E8720C"/>
                </a:solidFill>
                <a:latin typeface="Montserrat Bold"/>
                <a:ea typeface="Montserrat Bold"/>
                <a:cs typeface="Montserrat Bold"/>
                <a:sym typeface="Montserrat Bold"/>
              </a:rPr>
              <a:t>Employee</a:t>
            </a:r>
          </a:p>
        </p:txBody>
      </p:sp>
      <p:sp>
        <p:nvSpPr>
          <p:cNvPr name="TextBox 15" id="15"/>
          <p:cNvSpPr txBox="true"/>
          <p:nvPr/>
        </p:nvSpPr>
        <p:spPr>
          <a:xfrm rot="0">
            <a:off x="774002" y="4481970"/>
            <a:ext cx="695792" cy="200587"/>
          </a:xfrm>
          <a:prstGeom prst="rect">
            <a:avLst/>
          </a:prstGeom>
        </p:spPr>
        <p:txBody>
          <a:bodyPr anchor="t" rtlCol="false" tIns="0" lIns="0" bIns="0" rIns="0">
            <a:spAutoFit/>
          </a:bodyPr>
          <a:lstStyle/>
          <a:p>
            <a:pPr algn="l">
              <a:lnSpc>
                <a:spcPts val="1611"/>
              </a:lnSpc>
            </a:pPr>
            <a:r>
              <a:rPr lang="en-US" b="true" sz="1150" spc="-6">
                <a:solidFill>
                  <a:srgbClr val="C00000"/>
                </a:solidFill>
                <a:latin typeface="Montserrat Bold"/>
                <a:ea typeface="Montserrat Bold"/>
                <a:cs typeface="Montserrat Bold"/>
                <a:sym typeface="Montserrat Bold"/>
              </a:rPr>
              <a:t>Supervisor</a:t>
            </a:r>
          </a:p>
        </p:txBody>
      </p:sp>
      <p:sp>
        <p:nvSpPr>
          <p:cNvPr name="TextBox 16" id="16"/>
          <p:cNvSpPr txBox="true"/>
          <p:nvPr/>
        </p:nvSpPr>
        <p:spPr>
          <a:xfrm rot="0">
            <a:off x="678952" y="3108569"/>
            <a:ext cx="890054" cy="200587"/>
          </a:xfrm>
          <a:prstGeom prst="rect">
            <a:avLst/>
          </a:prstGeom>
        </p:spPr>
        <p:txBody>
          <a:bodyPr anchor="t" rtlCol="false" tIns="0" lIns="0" bIns="0" rIns="0">
            <a:spAutoFit/>
          </a:bodyPr>
          <a:lstStyle/>
          <a:p>
            <a:pPr algn="l">
              <a:lnSpc>
                <a:spcPts val="1611"/>
              </a:lnSpc>
            </a:pPr>
            <a:r>
              <a:rPr lang="en-US" b="true" sz="1150" spc="-6">
                <a:solidFill>
                  <a:srgbClr val="1F3864"/>
                </a:solidFill>
                <a:latin typeface="Montserrat Bold"/>
                <a:ea typeface="Montserrat Bold"/>
                <a:cs typeface="Montserrat Bold"/>
                <a:sym typeface="Montserrat Bold"/>
              </a:rPr>
              <a:t>Safety Officer</a:t>
            </a:r>
          </a:p>
        </p:txBody>
      </p:sp>
      <p:sp>
        <p:nvSpPr>
          <p:cNvPr name="TextBox 17" id="17"/>
          <p:cNvSpPr txBox="true"/>
          <p:nvPr/>
        </p:nvSpPr>
        <p:spPr>
          <a:xfrm rot="0">
            <a:off x="2928966" y="2689060"/>
            <a:ext cx="1324651" cy="175803"/>
          </a:xfrm>
          <a:prstGeom prst="rect">
            <a:avLst/>
          </a:prstGeom>
        </p:spPr>
        <p:txBody>
          <a:bodyPr anchor="t" rtlCol="false" tIns="0" lIns="0" bIns="0" rIns="0">
            <a:spAutoFit/>
          </a:bodyPr>
          <a:lstStyle/>
          <a:p>
            <a:pPr algn="l">
              <a:lnSpc>
                <a:spcPts val="1468"/>
              </a:lnSpc>
            </a:pPr>
            <a:r>
              <a:rPr lang="en-US" b="true" sz="1048" spc="-6">
                <a:solidFill>
                  <a:srgbClr val="1F3864"/>
                </a:solidFill>
                <a:latin typeface="Montserrat Bold"/>
                <a:ea typeface="Montserrat Bold"/>
                <a:cs typeface="Montserrat Bold"/>
                <a:sym typeface="Montserrat Bold"/>
              </a:rPr>
              <a:t>Monitor Hazard Zones</a:t>
            </a:r>
          </a:p>
        </p:txBody>
      </p:sp>
      <p:sp>
        <p:nvSpPr>
          <p:cNvPr name="TextBox 18" id="18"/>
          <p:cNvSpPr txBox="true"/>
          <p:nvPr/>
        </p:nvSpPr>
        <p:spPr>
          <a:xfrm rot="0">
            <a:off x="3157195" y="5435498"/>
            <a:ext cx="1215962" cy="175803"/>
          </a:xfrm>
          <a:prstGeom prst="rect">
            <a:avLst/>
          </a:prstGeom>
        </p:spPr>
        <p:txBody>
          <a:bodyPr anchor="t" rtlCol="false" tIns="0" lIns="0" bIns="0" rIns="0">
            <a:spAutoFit/>
          </a:bodyPr>
          <a:lstStyle/>
          <a:p>
            <a:pPr algn="l">
              <a:lnSpc>
                <a:spcPts val="1468"/>
              </a:lnSpc>
            </a:pPr>
            <a:r>
              <a:rPr lang="en-US" b="true" sz="1048" spc="-6">
                <a:solidFill>
                  <a:srgbClr val="E8720C"/>
                </a:solidFill>
                <a:latin typeface="Montserrat Bold"/>
                <a:ea typeface="Montserrat Bold"/>
                <a:cs typeface="Montserrat Bold"/>
                <a:sym typeface="Montserrat Bold"/>
              </a:rPr>
              <a:t>View Health Records</a:t>
            </a:r>
          </a:p>
        </p:txBody>
      </p:sp>
      <p:sp>
        <p:nvSpPr>
          <p:cNvPr name="TextBox 19" id="19"/>
          <p:cNvSpPr txBox="true"/>
          <p:nvPr/>
        </p:nvSpPr>
        <p:spPr>
          <a:xfrm rot="0">
            <a:off x="3115085" y="4062098"/>
            <a:ext cx="1303182" cy="175803"/>
          </a:xfrm>
          <a:prstGeom prst="rect">
            <a:avLst/>
          </a:prstGeom>
        </p:spPr>
        <p:txBody>
          <a:bodyPr anchor="t" rtlCol="false" tIns="0" lIns="0" bIns="0" rIns="0">
            <a:spAutoFit/>
          </a:bodyPr>
          <a:lstStyle/>
          <a:p>
            <a:pPr algn="l">
              <a:lnSpc>
                <a:spcPts val="1468"/>
              </a:lnSpc>
            </a:pPr>
            <a:r>
              <a:rPr lang="en-US" b="true" sz="1048" spc="-6">
                <a:solidFill>
                  <a:srgbClr val="C00000"/>
                </a:solidFill>
                <a:latin typeface="Montserrat Bold"/>
                <a:ea typeface="Montserrat Bold"/>
                <a:cs typeface="Montserrat Bold"/>
                <a:sym typeface="Montserrat Bold"/>
              </a:rPr>
              <a:t>View Alerts &amp; Reports</a:t>
            </a:r>
          </a:p>
        </p:txBody>
      </p:sp>
      <p:sp>
        <p:nvSpPr>
          <p:cNvPr name="TextBox 20" id="20"/>
          <p:cNvSpPr txBox="true"/>
          <p:nvPr/>
        </p:nvSpPr>
        <p:spPr>
          <a:xfrm rot="0">
            <a:off x="5910482" y="2689060"/>
            <a:ext cx="791394" cy="175803"/>
          </a:xfrm>
          <a:prstGeom prst="rect">
            <a:avLst/>
          </a:prstGeom>
        </p:spPr>
        <p:txBody>
          <a:bodyPr anchor="t" rtlCol="false" tIns="0" lIns="0" bIns="0" rIns="0">
            <a:spAutoFit/>
          </a:bodyPr>
          <a:lstStyle/>
          <a:p>
            <a:pPr algn="l">
              <a:lnSpc>
                <a:spcPts val="1468"/>
              </a:lnSpc>
            </a:pPr>
            <a:r>
              <a:rPr lang="en-US" b="true" sz="1048" spc="-6">
                <a:solidFill>
                  <a:srgbClr val="1F3864"/>
                </a:solidFill>
                <a:latin typeface="Montserrat Bold"/>
                <a:ea typeface="Montserrat Bold"/>
                <a:cs typeface="Montserrat Bold"/>
                <a:sym typeface="Montserrat Bold"/>
              </a:rPr>
              <a:t>Log Incidents</a:t>
            </a:r>
          </a:p>
        </p:txBody>
      </p:sp>
      <p:sp>
        <p:nvSpPr>
          <p:cNvPr name="TextBox 21" id="21"/>
          <p:cNvSpPr txBox="true"/>
          <p:nvPr/>
        </p:nvSpPr>
        <p:spPr>
          <a:xfrm rot="0">
            <a:off x="6317999" y="5435498"/>
            <a:ext cx="1033224" cy="175803"/>
          </a:xfrm>
          <a:prstGeom prst="rect">
            <a:avLst/>
          </a:prstGeom>
        </p:spPr>
        <p:txBody>
          <a:bodyPr anchor="t" rtlCol="false" tIns="0" lIns="0" bIns="0" rIns="0">
            <a:spAutoFit/>
          </a:bodyPr>
          <a:lstStyle/>
          <a:p>
            <a:pPr algn="l">
              <a:lnSpc>
                <a:spcPts val="1468"/>
              </a:lnSpc>
            </a:pPr>
            <a:r>
              <a:rPr lang="en-US" b="true" sz="1048" spc="-6">
                <a:solidFill>
                  <a:srgbClr val="E8720C"/>
                </a:solidFill>
                <a:latin typeface="Montserrat Bold"/>
                <a:ea typeface="Montserrat Bold"/>
                <a:cs typeface="Montserrat Bold"/>
                <a:sym typeface="Montserrat Bold"/>
              </a:rPr>
              <a:t>Report Near-Miss</a:t>
            </a:r>
          </a:p>
        </p:txBody>
      </p:sp>
      <p:sp>
        <p:nvSpPr>
          <p:cNvPr name="TextBox 22" id="22"/>
          <p:cNvSpPr txBox="true"/>
          <p:nvPr/>
        </p:nvSpPr>
        <p:spPr>
          <a:xfrm rot="0">
            <a:off x="6061681" y="4062098"/>
            <a:ext cx="1553442" cy="175803"/>
          </a:xfrm>
          <a:prstGeom prst="rect">
            <a:avLst/>
          </a:prstGeom>
        </p:spPr>
        <p:txBody>
          <a:bodyPr anchor="t" rtlCol="false" tIns="0" lIns="0" bIns="0" rIns="0">
            <a:spAutoFit/>
          </a:bodyPr>
          <a:lstStyle/>
          <a:p>
            <a:pPr algn="l">
              <a:lnSpc>
                <a:spcPts val="1468"/>
              </a:lnSpc>
            </a:pPr>
            <a:r>
              <a:rPr lang="en-US" b="true" sz="1048" spc="-6">
                <a:solidFill>
                  <a:srgbClr val="C00000"/>
                </a:solidFill>
                <a:latin typeface="Montserrat Bold"/>
                <a:ea typeface="Montserrat Bold"/>
                <a:cs typeface="Montserrat Bold"/>
                <a:sym typeface="Montserrat Bold"/>
              </a:rPr>
              <a:t>Approve Corrective Action</a:t>
            </a:r>
          </a:p>
        </p:txBody>
      </p:sp>
      <p:sp>
        <p:nvSpPr>
          <p:cNvPr name="TextBox 23" id="23"/>
          <p:cNvSpPr txBox="true"/>
          <p:nvPr/>
        </p:nvSpPr>
        <p:spPr>
          <a:xfrm rot="0">
            <a:off x="8293684" y="2689060"/>
            <a:ext cx="1476680" cy="175803"/>
          </a:xfrm>
          <a:prstGeom prst="rect">
            <a:avLst/>
          </a:prstGeom>
        </p:spPr>
        <p:txBody>
          <a:bodyPr anchor="t" rtlCol="false" tIns="0" lIns="0" bIns="0" rIns="0">
            <a:spAutoFit/>
          </a:bodyPr>
          <a:lstStyle/>
          <a:p>
            <a:pPr algn="l">
              <a:lnSpc>
                <a:spcPts val="1468"/>
              </a:lnSpc>
            </a:pPr>
            <a:r>
              <a:rPr lang="en-US" b="true" sz="1048" spc="-6">
                <a:solidFill>
                  <a:srgbClr val="1F3864"/>
                </a:solidFill>
                <a:latin typeface="Montserrat Bold"/>
                <a:ea typeface="Montserrat Bold"/>
                <a:cs typeface="Montserrat Bold"/>
                <a:sym typeface="Montserrat Bold"/>
              </a:rPr>
              <a:t>Manage PPE Compliance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301904" y="2862224"/>
            <a:ext cx="11584000" cy="1315355"/>
          </a:xfrm>
          <a:custGeom>
            <a:avLst/>
            <a:gdLst/>
            <a:ahLst/>
            <a:cxnLst/>
            <a:rect r="r" b="b" t="t" l="l"/>
            <a:pathLst>
              <a:path h="1315355" w="11584000">
                <a:moveTo>
                  <a:pt x="0" y="0"/>
                </a:moveTo>
                <a:lnTo>
                  <a:pt x="11584001" y="0"/>
                </a:lnTo>
                <a:lnTo>
                  <a:pt x="11584001" y="1315355"/>
                </a:lnTo>
                <a:lnTo>
                  <a:pt x="0" y="131535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1697843" y="6508404"/>
            <a:ext cx="128711"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15</a:t>
            </a:r>
          </a:p>
        </p:txBody>
      </p:sp>
      <p:sp>
        <p:nvSpPr>
          <p:cNvPr name="TextBox 9" id="9"/>
          <p:cNvSpPr txBox="true"/>
          <p:nvPr/>
        </p:nvSpPr>
        <p:spPr>
          <a:xfrm rot="0">
            <a:off x="455400" y="1001039"/>
            <a:ext cx="3324901" cy="574643"/>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System Workflow</a:t>
            </a:r>
          </a:p>
        </p:txBody>
      </p:sp>
      <p:sp>
        <p:nvSpPr>
          <p:cNvPr name="TextBox 10" id="10"/>
          <p:cNvSpPr txBox="true"/>
          <p:nvPr/>
        </p:nvSpPr>
        <p:spPr>
          <a:xfrm rot="0">
            <a:off x="801005" y="3322120"/>
            <a:ext cx="1069124" cy="452714"/>
          </a:xfrm>
          <a:prstGeom prst="rect">
            <a:avLst/>
          </a:prstGeom>
        </p:spPr>
        <p:txBody>
          <a:bodyPr anchor="t" rtlCol="false" tIns="0" lIns="0" bIns="0" rIns="0">
            <a:spAutoFit/>
          </a:bodyPr>
          <a:lstStyle/>
          <a:p>
            <a:pPr algn="ctr">
              <a:lnSpc>
                <a:spcPts val="1799"/>
              </a:lnSpc>
            </a:pPr>
            <a:r>
              <a:rPr lang="en-US" b="true" sz="1499" spc="-8">
                <a:solidFill>
                  <a:srgbClr val="FFFFFF"/>
                </a:solidFill>
                <a:latin typeface="Montserrat Bold"/>
                <a:ea typeface="Montserrat Bold"/>
                <a:cs typeface="Montserrat Bold"/>
                <a:sym typeface="Montserrat Bold"/>
              </a:rPr>
              <a:t>Employee / Sensor Input</a:t>
            </a:r>
          </a:p>
        </p:txBody>
      </p:sp>
      <p:sp>
        <p:nvSpPr>
          <p:cNvPr name="TextBox 11" id="11"/>
          <p:cNvSpPr txBox="true"/>
          <p:nvPr/>
        </p:nvSpPr>
        <p:spPr>
          <a:xfrm rot="0">
            <a:off x="3056392" y="3322120"/>
            <a:ext cx="1330966" cy="452714"/>
          </a:xfrm>
          <a:prstGeom prst="rect">
            <a:avLst/>
          </a:prstGeom>
        </p:spPr>
        <p:txBody>
          <a:bodyPr anchor="t" rtlCol="false" tIns="0" lIns="0" bIns="0" rIns="0">
            <a:spAutoFit/>
          </a:bodyPr>
          <a:lstStyle/>
          <a:p>
            <a:pPr algn="l">
              <a:lnSpc>
                <a:spcPts val="1799"/>
              </a:lnSpc>
            </a:pPr>
            <a:r>
              <a:rPr lang="en-US" b="true" sz="1499" spc="-8">
                <a:solidFill>
                  <a:srgbClr val="FFFFFF"/>
                </a:solidFill>
                <a:latin typeface="Montserrat Bold"/>
                <a:ea typeface="Montserrat Bold"/>
                <a:cs typeface="Montserrat Bold"/>
                <a:sym typeface="Montserrat Bold"/>
              </a:rPr>
              <a:t>Data Validation &amp; Classification</a:t>
            </a:r>
          </a:p>
        </p:txBody>
      </p:sp>
      <p:sp>
        <p:nvSpPr>
          <p:cNvPr name="TextBox 12" id="12"/>
          <p:cNvSpPr txBox="true"/>
          <p:nvPr/>
        </p:nvSpPr>
        <p:spPr>
          <a:xfrm rot="0">
            <a:off x="5501878" y="3322120"/>
            <a:ext cx="1207237" cy="452714"/>
          </a:xfrm>
          <a:prstGeom prst="rect">
            <a:avLst/>
          </a:prstGeom>
        </p:spPr>
        <p:txBody>
          <a:bodyPr anchor="t" rtlCol="false" tIns="0" lIns="0" bIns="0" rIns="0">
            <a:spAutoFit/>
          </a:bodyPr>
          <a:lstStyle/>
          <a:p>
            <a:pPr algn="ctr">
              <a:lnSpc>
                <a:spcPts val="1799"/>
              </a:lnSpc>
            </a:pPr>
            <a:r>
              <a:rPr lang="en-US" b="true" sz="1499" spc="-8">
                <a:solidFill>
                  <a:srgbClr val="FFFFFF"/>
                </a:solidFill>
                <a:latin typeface="Montserrat Bold"/>
                <a:ea typeface="Montserrat Bold"/>
                <a:cs typeface="Montserrat Bold"/>
                <a:sym typeface="Montserrat Bold"/>
              </a:rPr>
              <a:t>Risk / Severity Evaluation</a:t>
            </a:r>
          </a:p>
        </p:txBody>
      </p:sp>
      <p:sp>
        <p:nvSpPr>
          <p:cNvPr name="TextBox 13" id="13"/>
          <p:cNvSpPr txBox="true"/>
          <p:nvPr/>
        </p:nvSpPr>
        <p:spPr>
          <a:xfrm rot="0">
            <a:off x="7997409" y="3322120"/>
            <a:ext cx="980161" cy="452714"/>
          </a:xfrm>
          <a:prstGeom prst="rect">
            <a:avLst/>
          </a:prstGeom>
        </p:spPr>
        <p:txBody>
          <a:bodyPr anchor="t" rtlCol="false" tIns="0" lIns="0" bIns="0" rIns="0">
            <a:spAutoFit/>
          </a:bodyPr>
          <a:lstStyle/>
          <a:p>
            <a:pPr algn="ctr">
              <a:lnSpc>
                <a:spcPts val="1799"/>
              </a:lnSpc>
            </a:pPr>
            <a:r>
              <a:rPr lang="en-US" b="true" sz="1499" spc="-8">
                <a:solidFill>
                  <a:srgbClr val="FFFFFF"/>
                </a:solidFill>
                <a:latin typeface="Montserrat Bold"/>
                <a:ea typeface="Montserrat Bold"/>
                <a:cs typeface="Montserrat Bold"/>
                <a:sym typeface="Montserrat Bold"/>
              </a:rPr>
              <a:t>Alert &amp; Notification</a:t>
            </a:r>
          </a:p>
        </p:txBody>
      </p:sp>
      <p:sp>
        <p:nvSpPr>
          <p:cNvPr name="TextBox 14" id="14"/>
          <p:cNvSpPr txBox="true"/>
          <p:nvPr/>
        </p:nvSpPr>
        <p:spPr>
          <a:xfrm rot="0">
            <a:off x="10092604" y="3322120"/>
            <a:ext cx="1566977" cy="452714"/>
          </a:xfrm>
          <a:prstGeom prst="rect">
            <a:avLst/>
          </a:prstGeom>
        </p:spPr>
        <p:txBody>
          <a:bodyPr anchor="t" rtlCol="false" tIns="0" lIns="0" bIns="0" rIns="0">
            <a:spAutoFit/>
          </a:bodyPr>
          <a:lstStyle/>
          <a:p>
            <a:pPr algn="ctr">
              <a:lnSpc>
                <a:spcPts val="1799"/>
              </a:lnSpc>
            </a:pPr>
            <a:r>
              <a:rPr lang="en-US" b="true" sz="1499" spc="-8">
                <a:solidFill>
                  <a:srgbClr val="FFFFFF"/>
                </a:solidFill>
                <a:latin typeface="Montserrat Bold"/>
                <a:ea typeface="Montserrat Bold"/>
                <a:cs typeface="Montserrat Bold"/>
                <a:sym typeface="Montserrat Bold"/>
              </a:rPr>
              <a:t>Record &amp;</a:t>
            </a:r>
          </a:p>
          <a:p>
            <a:pPr algn="ctr">
              <a:lnSpc>
                <a:spcPts val="1799"/>
              </a:lnSpc>
            </a:pPr>
            <a:r>
              <a:rPr lang="en-US" b="true" sz="1499" spc="-8">
                <a:solidFill>
                  <a:srgbClr val="FFFFFF"/>
                </a:solidFill>
                <a:latin typeface="Montserrat Bold"/>
                <a:ea typeface="Montserrat Bold"/>
                <a:cs typeface="Montserrat Bold"/>
                <a:sym typeface="Montserrat Bold"/>
              </a:rPr>
              <a:t>Report Generation</a:t>
            </a:r>
          </a:p>
        </p:txBody>
      </p:sp>
      <p:sp>
        <p:nvSpPr>
          <p:cNvPr name="TextBox 15" id="15"/>
          <p:cNvSpPr txBox="true"/>
          <p:nvPr/>
        </p:nvSpPr>
        <p:spPr>
          <a:xfrm rot="0">
            <a:off x="2302916" y="4682299"/>
            <a:ext cx="7718860" cy="267519"/>
          </a:xfrm>
          <a:prstGeom prst="rect">
            <a:avLst/>
          </a:prstGeom>
        </p:spPr>
        <p:txBody>
          <a:bodyPr anchor="t" rtlCol="false" tIns="0" lIns="0" bIns="0" rIns="0">
            <a:spAutoFit/>
          </a:bodyPr>
          <a:lstStyle/>
          <a:p>
            <a:pPr algn="l">
              <a:lnSpc>
                <a:spcPts val="2238"/>
              </a:lnSpc>
            </a:pPr>
            <a:r>
              <a:rPr lang="en-US" sz="1598" i="true" spc="3">
                <a:solidFill>
                  <a:srgbClr val="595959"/>
                </a:solidFill>
                <a:latin typeface="IBM Plex Sans Condensed Italics"/>
                <a:ea typeface="IBM Plex Sans Condensed Italics"/>
                <a:cs typeface="IBM Plex Sans Condensed Italics"/>
                <a:sym typeface="IBM Plex Sans Condensed Italics"/>
              </a:rPr>
              <a:t>Continuous loop: hazard zones and PPE compliance are re-checked after every logged event.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297580" y="1577388"/>
            <a:ext cx="3772357" cy="4342228"/>
          </a:xfrm>
          <a:custGeom>
            <a:avLst/>
            <a:gdLst/>
            <a:ahLst/>
            <a:cxnLst/>
            <a:rect r="r" b="b" t="t" l="l"/>
            <a:pathLst>
              <a:path h="4342228" w="3772357">
                <a:moveTo>
                  <a:pt x="0" y="0"/>
                </a:moveTo>
                <a:lnTo>
                  <a:pt x="3772357" y="0"/>
                </a:lnTo>
                <a:lnTo>
                  <a:pt x="3772357" y="4342228"/>
                </a:lnTo>
                <a:lnTo>
                  <a:pt x="0" y="43422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4208269" y="1577388"/>
            <a:ext cx="3772357" cy="4342228"/>
          </a:xfrm>
          <a:custGeom>
            <a:avLst/>
            <a:gdLst/>
            <a:ahLst/>
            <a:cxnLst/>
            <a:rect r="r" b="b" t="t" l="l"/>
            <a:pathLst>
              <a:path h="4342228" w="3772357">
                <a:moveTo>
                  <a:pt x="0" y="0"/>
                </a:moveTo>
                <a:lnTo>
                  <a:pt x="3772357" y="0"/>
                </a:lnTo>
                <a:lnTo>
                  <a:pt x="3772357" y="4342228"/>
                </a:lnTo>
                <a:lnTo>
                  <a:pt x="0" y="4342228"/>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118586" y="1577388"/>
            <a:ext cx="3772357" cy="4342228"/>
          </a:xfrm>
          <a:custGeom>
            <a:avLst/>
            <a:gdLst/>
            <a:ahLst/>
            <a:cxnLst/>
            <a:rect r="r" b="b" t="t" l="l"/>
            <a:pathLst>
              <a:path h="4342228" w="3772357">
                <a:moveTo>
                  <a:pt x="0" y="0"/>
                </a:moveTo>
                <a:lnTo>
                  <a:pt x="3772357" y="0"/>
                </a:lnTo>
                <a:lnTo>
                  <a:pt x="3772357" y="4342228"/>
                </a:lnTo>
                <a:lnTo>
                  <a:pt x="0" y="4342228"/>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1697843" y="6508404"/>
            <a:ext cx="128711"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16</a:t>
            </a:r>
          </a:p>
        </p:txBody>
      </p:sp>
      <p:sp>
        <p:nvSpPr>
          <p:cNvPr name="TextBox 11" id="11"/>
          <p:cNvSpPr txBox="true"/>
          <p:nvPr/>
        </p:nvSpPr>
        <p:spPr>
          <a:xfrm rot="0">
            <a:off x="455400" y="1001039"/>
            <a:ext cx="4304500" cy="574643"/>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Tools and Technologies</a:t>
            </a:r>
          </a:p>
        </p:txBody>
      </p:sp>
      <p:sp>
        <p:nvSpPr>
          <p:cNvPr name="TextBox 12" id="12"/>
          <p:cNvSpPr txBox="true"/>
          <p:nvPr/>
        </p:nvSpPr>
        <p:spPr>
          <a:xfrm rot="0">
            <a:off x="1747799" y="1895875"/>
            <a:ext cx="887920" cy="307134"/>
          </a:xfrm>
          <a:prstGeom prst="rect">
            <a:avLst/>
          </a:prstGeom>
        </p:spPr>
        <p:txBody>
          <a:bodyPr anchor="t" rtlCol="false" tIns="0" lIns="0" bIns="0" rIns="0">
            <a:spAutoFit/>
          </a:bodyPr>
          <a:lstStyle/>
          <a:p>
            <a:pPr algn="l">
              <a:lnSpc>
                <a:spcPts val="2520"/>
              </a:lnSpc>
            </a:pPr>
            <a:r>
              <a:rPr lang="en-US" b="true" sz="1800" spc="-10">
                <a:solidFill>
                  <a:srgbClr val="C00000"/>
                </a:solidFill>
                <a:latin typeface="Montserrat Bold"/>
                <a:ea typeface="Montserrat Bold"/>
                <a:cs typeface="Montserrat Bold"/>
                <a:sym typeface="Montserrat Bold"/>
              </a:rPr>
              <a:t>Software</a:t>
            </a:r>
          </a:p>
        </p:txBody>
      </p:sp>
      <p:sp>
        <p:nvSpPr>
          <p:cNvPr name="TextBox 13" id="13"/>
          <p:cNvSpPr txBox="true"/>
          <p:nvPr/>
        </p:nvSpPr>
        <p:spPr>
          <a:xfrm rot="0">
            <a:off x="5200564" y="1895875"/>
            <a:ext cx="1822009" cy="307134"/>
          </a:xfrm>
          <a:prstGeom prst="rect">
            <a:avLst/>
          </a:prstGeom>
        </p:spPr>
        <p:txBody>
          <a:bodyPr anchor="t" rtlCol="false" tIns="0" lIns="0" bIns="0" rIns="0">
            <a:spAutoFit/>
          </a:bodyPr>
          <a:lstStyle/>
          <a:p>
            <a:pPr algn="l">
              <a:lnSpc>
                <a:spcPts val="2520"/>
              </a:lnSpc>
            </a:pPr>
            <a:r>
              <a:rPr lang="en-US" b="true" sz="1800" spc="-10">
                <a:solidFill>
                  <a:srgbClr val="C00000"/>
                </a:solidFill>
                <a:latin typeface="Montserrat Bold"/>
                <a:ea typeface="Montserrat Bold"/>
                <a:cs typeface="Montserrat Bold"/>
                <a:sym typeface="Montserrat Bold"/>
              </a:rPr>
              <a:t>Technologies Used</a:t>
            </a:r>
          </a:p>
        </p:txBody>
      </p:sp>
      <p:sp>
        <p:nvSpPr>
          <p:cNvPr name="TextBox 14" id="14"/>
          <p:cNvSpPr txBox="true"/>
          <p:nvPr/>
        </p:nvSpPr>
        <p:spPr>
          <a:xfrm rot="0">
            <a:off x="9284398" y="1895875"/>
            <a:ext cx="1468517" cy="307134"/>
          </a:xfrm>
          <a:prstGeom prst="rect">
            <a:avLst/>
          </a:prstGeom>
        </p:spPr>
        <p:txBody>
          <a:bodyPr anchor="t" rtlCol="false" tIns="0" lIns="0" bIns="0" rIns="0">
            <a:spAutoFit/>
          </a:bodyPr>
          <a:lstStyle/>
          <a:p>
            <a:pPr algn="l">
              <a:lnSpc>
                <a:spcPts val="2520"/>
              </a:lnSpc>
            </a:pPr>
            <a:r>
              <a:rPr lang="en-US" b="true" sz="1800" spc="-10">
                <a:solidFill>
                  <a:srgbClr val="C00000"/>
                </a:solidFill>
                <a:latin typeface="Montserrat Bold"/>
                <a:ea typeface="Montserrat Bold"/>
                <a:cs typeface="Montserrat Bold"/>
                <a:sym typeface="Montserrat Bold"/>
              </a:rPr>
              <a:t>OOP Concepts</a:t>
            </a:r>
          </a:p>
        </p:txBody>
      </p:sp>
      <p:sp>
        <p:nvSpPr>
          <p:cNvPr name="TextBox 15" id="15"/>
          <p:cNvSpPr txBox="true"/>
          <p:nvPr/>
        </p:nvSpPr>
        <p:spPr>
          <a:xfrm rot="0">
            <a:off x="684362" y="2397900"/>
            <a:ext cx="68961" cy="1021280"/>
          </a:xfrm>
          <a:prstGeom prst="rect">
            <a:avLst/>
          </a:prstGeom>
        </p:spPr>
        <p:txBody>
          <a:bodyPr anchor="t" rtlCol="false" tIns="0" lIns="0" bIns="0" rIns="0">
            <a:spAutoFit/>
          </a:bodyPr>
          <a:lstStyle/>
          <a:p>
            <a:pPr algn="just">
              <a:lnSpc>
                <a:spcPts val="2801"/>
              </a:lnSpc>
            </a:pPr>
            <a:r>
              <a:rPr lang="en-US" sz="1499" spc="-2">
                <a:solidFill>
                  <a:srgbClr val="262626"/>
                </a:solidFill>
                <a:latin typeface="IBM Plex Sans Condensed"/>
                <a:ea typeface="IBM Plex Sans Condensed"/>
                <a:cs typeface="IBM Plex Sans Condensed"/>
                <a:sym typeface="IBM Plex Sans Condensed"/>
              </a:rPr>
              <a:t>• • •</a:t>
            </a:r>
          </a:p>
        </p:txBody>
      </p:sp>
      <p:sp>
        <p:nvSpPr>
          <p:cNvPr name="TextBox 16" id="16"/>
          <p:cNvSpPr txBox="true"/>
          <p:nvPr/>
        </p:nvSpPr>
        <p:spPr>
          <a:xfrm rot="0">
            <a:off x="4595041" y="2397900"/>
            <a:ext cx="68961" cy="1021280"/>
          </a:xfrm>
          <a:prstGeom prst="rect">
            <a:avLst/>
          </a:prstGeom>
        </p:spPr>
        <p:txBody>
          <a:bodyPr anchor="t" rtlCol="false" tIns="0" lIns="0" bIns="0" rIns="0">
            <a:spAutoFit/>
          </a:bodyPr>
          <a:lstStyle/>
          <a:p>
            <a:pPr algn="just">
              <a:lnSpc>
                <a:spcPts val="2801"/>
              </a:lnSpc>
            </a:pPr>
            <a:r>
              <a:rPr lang="en-US" sz="1499" spc="-2">
                <a:solidFill>
                  <a:srgbClr val="262626"/>
                </a:solidFill>
                <a:latin typeface="IBM Plex Sans Condensed"/>
                <a:ea typeface="IBM Plex Sans Condensed"/>
                <a:cs typeface="IBM Plex Sans Condensed"/>
                <a:sym typeface="IBM Plex Sans Condensed"/>
              </a:rPr>
              <a:t>• • •</a:t>
            </a:r>
          </a:p>
        </p:txBody>
      </p:sp>
      <p:sp>
        <p:nvSpPr>
          <p:cNvPr name="TextBox 17" id="17"/>
          <p:cNvSpPr txBox="true"/>
          <p:nvPr/>
        </p:nvSpPr>
        <p:spPr>
          <a:xfrm rot="0">
            <a:off x="8505358" y="2397900"/>
            <a:ext cx="68961" cy="1732645"/>
          </a:xfrm>
          <a:prstGeom prst="rect">
            <a:avLst/>
          </a:prstGeom>
        </p:spPr>
        <p:txBody>
          <a:bodyPr anchor="t" rtlCol="false" tIns="0" lIns="0" bIns="0" rIns="0">
            <a:spAutoFit/>
          </a:bodyPr>
          <a:lstStyle/>
          <a:p>
            <a:pPr algn="just">
              <a:lnSpc>
                <a:spcPts val="2801"/>
              </a:lnSpc>
            </a:pPr>
            <a:r>
              <a:rPr lang="en-US" sz="1499" spc="-2">
                <a:solidFill>
                  <a:srgbClr val="262626"/>
                </a:solidFill>
                <a:latin typeface="IBM Plex Sans Condensed"/>
                <a:ea typeface="IBM Plex Sans Condensed"/>
                <a:cs typeface="IBM Plex Sans Condensed"/>
                <a:sym typeface="IBM Plex Sans Condensed"/>
              </a:rPr>
              <a:t>• • • • •</a:t>
            </a:r>
          </a:p>
        </p:txBody>
      </p:sp>
      <p:sp>
        <p:nvSpPr>
          <p:cNvPr name="TextBox 18" id="18"/>
          <p:cNvSpPr txBox="true"/>
          <p:nvPr/>
        </p:nvSpPr>
        <p:spPr>
          <a:xfrm rot="0">
            <a:off x="1027443" y="2403186"/>
            <a:ext cx="2180206" cy="1030729"/>
          </a:xfrm>
          <a:prstGeom prst="rect">
            <a:avLst/>
          </a:prstGeom>
        </p:spPr>
        <p:txBody>
          <a:bodyPr anchor="t" rtlCol="false" tIns="0" lIns="0" bIns="0" rIns="0">
            <a:spAutoFit/>
          </a:bodyPr>
          <a:lstStyle/>
          <a:p>
            <a:pPr algn="l">
              <a:lnSpc>
                <a:spcPts val="2801"/>
              </a:lnSpc>
            </a:pPr>
            <a:r>
              <a:rPr lang="en-US" sz="1499" spc="-2">
                <a:solidFill>
                  <a:srgbClr val="262626"/>
                </a:solidFill>
                <a:latin typeface="IBM Plex Sans Condensed"/>
                <a:ea typeface="IBM Plex Sans Condensed"/>
                <a:cs typeface="IBM Plex Sans Condensed"/>
                <a:sym typeface="IBM Plex Sans Condensed"/>
              </a:rPr>
              <a:t>Code::Blocks / Dev-C++ GCC Compiler</a:t>
            </a:r>
          </a:p>
          <a:p>
            <a:pPr algn="l">
              <a:lnSpc>
                <a:spcPts val="2801"/>
              </a:lnSpc>
            </a:pPr>
            <a:r>
              <a:rPr lang="en-US" sz="1499" spc="-2">
                <a:solidFill>
                  <a:srgbClr val="262626"/>
                </a:solidFill>
                <a:latin typeface="IBM Plex Sans Condensed"/>
                <a:ea typeface="IBM Plex Sans Condensed"/>
                <a:cs typeface="IBM Plex Sans Condensed"/>
                <a:sym typeface="IBM Plex Sans Condensed"/>
              </a:rPr>
              <a:t>Windows Operating System</a:t>
            </a:r>
          </a:p>
        </p:txBody>
      </p:sp>
      <p:sp>
        <p:nvSpPr>
          <p:cNvPr name="TextBox 19" id="19"/>
          <p:cNvSpPr txBox="true"/>
          <p:nvPr/>
        </p:nvSpPr>
        <p:spPr>
          <a:xfrm rot="0">
            <a:off x="4938112" y="2403186"/>
            <a:ext cx="2276751" cy="1030729"/>
          </a:xfrm>
          <a:prstGeom prst="rect">
            <a:avLst/>
          </a:prstGeom>
        </p:spPr>
        <p:txBody>
          <a:bodyPr anchor="t" rtlCol="false" tIns="0" lIns="0" bIns="0" rIns="0">
            <a:spAutoFit/>
          </a:bodyPr>
          <a:lstStyle/>
          <a:p>
            <a:pPr algn="l">
              <a:lnSpc>
                <a:spcPts val="2801"/>
              </a:lnSpc>
            </a:pPr>
            <a:r>
              <a:rPr lang="en-US" sz="1499" spc="-2">
                <a:solidFill>
                  <a:srgbClr val="262626"/>
                </a:solidFill>
                <a:latin typeface="IBM Plex Sans Condensed"/>
                <a:ea typeface="IBM Plex Sans Condensed"/>
                <a:cs typeface="IBM Plex Sans Condensed"/>
                <a:sym typeface="IBM Plex Sans Condensed"/>
              </a:rPr>
              <a:t>C++ Programming Language Object-Oriented Design</a:t>
            </a:r>
          </a:p>
          <a:p>
            <a:pPr algn="l">
              <a:lnSpc>
                <a:spcPts val="2801"/>
              </a:lnSpc>
            </a:pPr>
            <a:r>
              <a:rPr lang="en-US" sz="1499" spc="-2">
                <a:solidFill>
                  <a:srgbClr val="262626"/>
                </a:solidFill>
                <a:latin typeface="IBM Plex Sans Condensed"/>
                <a:ea typeface="IBM Plex Sans Condensed"/>
                <a:cs typeface="IBM Plex Sans Condensed"/>
                <a:sym typeface="IBM Plex Sans Condensed"/>
              </a:rPr>
              <a:t>File Handling for persistence</a:t>
            </a:r>
          </a:p>
        </p:txBody>
      </p:sp>
      <p:sp>
        <p:nvSpPr>
          <p:cNvPr name="TextBox 20" id="20"/>
          <p:cNvSpPr txBox="true"/>
          <p:nvPr/>
        </p:nvSpPr>
        <p:spPr>
          <a:xfrm rot="0">
            <a:off x="8848449" y="2403186"/>
            <a:ext cx="1421492" cy="1742084"/>
          </a:xfrm>
          <a:prstGeom prst="rect">
            <a:avLst/>
          </a:prstGeom>
        </p:spPr>
        <p:txBody>
          <a:bodyPr anchor="t" rtlCol="false" tIns="0" lIns="0" bIns="0" rIns="0">
            <a:spAutoFit/>
          </a:bodyPr>
          <a:lstStyle/>
          <a:p>
            <a:pPr algn="l">
              <a:lnSpc>
                <a:spcPts val="2801"/>
              </a:lnSpc>
            </a:pPr>
            <a:r>
              <a:rPr lang="en-US" sz="1499" spc="-2">
                <a:solidFill>
                  <a:srgbClr val="262626"/>
                </a:solidFill>
                <a:latin typeface="IBM Plex Sans Condensed"/>
                <a:ea typeface="IBM Plex Sans Condensed"/>
                <a:cs typeface="IBM Plex Sans Condensed"/>
                <a:sym typeface="IBM Plex Sans Condensed"/>
              </a:rPr>
              <a:t>Classes &amp; Objects Encapsulation Inheritance Polymorphism Abstraction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1697843" y="6508404"/>
            <a:ext cx="128711"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17</a:t>
            </a:r>
          </a:p>
        </p:txBody>
      </p:sp>
      <p:sp>
        <p:nvSpPr>
          <p:cNvPr name="TextBox 8" id="8"/>
          <p:cNvSpPr txBox="true"/>
          <p:nvPr/>
        </p:nvSpPr>
        <p:spPr>
          <a:xfrm rot="0">
            <a:off x="455400" y="1001039"/>
            <a:ext cx="3808752" cy="574643"/>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OOP Concepts Used</a:t>
            </a:r>
          </a:p>
        </p:txBody>
      </p:sp>
      <p:sp>
        <p:nvSpPr>
          <p:cNvPr name="TextBox 9" id="9"/>
          <p:cNvSpPr txBox="true"/>
          <p:nvPr/>
        </p:nvSpPr>
        <p:spPr>
          <a:xfrm rot="0">
            <a:off x="591842" y="2013954"/>
            <a:ext cx="93958" cy="3414800"/>
          </a:xfrm>
          <a:prstGeom prst="rect">
            <a:avLst/>
          </a:prstGeom>
        </p:spPr>
        <p:txBody>
          <a:bodyPr anchor="t" rtlCol="false" tIns="0" lIns="0" bIns="0" rIns="0">
            <a:spAutoFit/>
          </a:bodyPr>
          <a:lstStyle/>
          <a:p>
            <a:pPr algn="just">
              <a:lnSpc>
                <a:spcPts val="3941"/>
              </a:lnSpc>
            </a:pPr>
            <a:r>
              <a:rPr lang="en-US" sz="2003" spc="-4">
                <a:solidFill>
                  <a:srgbClr val="262626"/>
                </a:solidFill>
                <a:latin typeface="IBM Plex Sans Condensed"/>
                <a:ea typeface="IBM Plex Sans Condensed"/>
                <a:cs typeface="IBM Plex Sans Condensed"/>
                <a:sym typeface="IBM Plex Sans Condensed"/>
              </a:rPr>
              <a:t>• • • • • • •</a:t>
            </a:r>
          </a:p>
        </p:txBody>
      </p:sp>
      <p:sp>
        <p:nvSpPr>
          <p:cNvPr name="TextBox 10" id="10"/>
          <p:cNvSpPr txBox="true"/>
          <p:nvPr/>
        </p:nvSpPr>
        <p:spPr>
          <a:xfrm rot="0">
            <a:off x="904212" y="2023479"/>
            <a:ext cx="10857986" cy="3344020"/>
          </a:xfrm>
          <a:prstGeom prst="rect">
            <a:avLst/>
          </a:prstGeom>
        </p:spPr>
        <p:txBody>
          <a:bodyPr anchor="t" rtlCol="false" tIns="0" lIns="0" bIns="0" rIns="0">
            <a:spAutoFit/>
          </a:bodyPr>
          <a:lstStyle/>
          <a:p>
            <a:pPr algn="just">
              <a:lnSpc>
                <a:spcPts val="3880"/>
              </a:lnSpc>
            </a:pPr>
            <a:r>
              <a:rPr lang="en-US" sz="1972" spc="-1">
                <a:solidFill>
                  <a:srgbClr val="262626"/>
                </a:solidFill>
                <a:latin typeface="IBM Plex Sans Condensed"/>
                <a:ea typeface="IBM Plex Sans Condensed"/>
                <a:cs typeface="IBM Plex Sans Condensed"/>
                <a:sym typeface="IBM Plex Sans Condensed"/>
              </a:rPr>
              <a:t>Classes and Objects – represent employees, hazard zones, incidents, and PPE items as system entities. Encapsulation – combines employee, health, and compliance data with the functions that operate on them. Inheritance – supports reusable class structures across employee roles and hazard-zone types. Polymorphism – provides different alert / reporting behaviours through function overriding.</a:t>
            </a:r>
          </a:p>
          <a:p>
            <a:pPr algn="just">
              <a:lnSpc>
                <a:spcPts val="3880"/>
              </a:lnSpc>
            </a:pPr>
            <a:r>
              <a:rPr lang="en-US" sz="1972" spc="-1">
                <a:solidFill>
                  <a:srgbClr val="262626"/>
                </a:solidFill>
                <a:latin typeface="IBM Plex Sans Condensed"/>
                <a:ea typeface="IBM Plex Sans Condensed"/>
                <a:cs typeface="IBM Plex Sans Condensed"/>
                <a:sym typeface="IBM Plex Sans Condensed"/>
              </a:rPr>
              <a:t>Abstraction – represents essential safety operations while hiding internal implementation detail. Constructors – used to initialize employee, zone, and incident objects with default/starting data.</a:t>
            </a:r>
          </a:p>
          <a:p>
            <a:pPr algn="just">
              <a:lnSpc>
                <a:spcPts val="3880"/>
              </a:lnSpc>
            </a:pPr>
            <a:r>
              <a:rPr lang="en-US" sz="1972" spc="-1">
                <a:solidFill>
                  <a:srgbClr val="262626"/>
                </a:solidFill>
                <a:latin typeface="IBM Plex Sans Condensed"/>
                <a:ea typeface="IBM Plex Sans Condensed"/>
                <a:cs typeface="IBM Plex Sans Condensed"/>
                <a:sym typeface="IBM Plex Sans Condensed"/>
              </a:rPr>
              <a:t>File Handling – used for storing and retrieving employee, incident, and compliance records.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1697843" y="6508404"/>
            <a:ext cx="128711"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18</a:t>
            </a:r>
          </a:p>
        </p:txBody>
      </p:sp>
      <p:sp>
        <p:nvSpPr>
          <p:cNvPr name="TextBox 8" id="8"/>
          <p:cNvSpPr txBox="true"/>
          <p:nvPr/>
        </p:nvSpPr>
        <p:spPr>
          <a:xfrm rot="0">
            <a:off x="455400" y="1001039"/>
            <a:ext cx="2197818" cy="574643"/>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Advantages</a:t>
            </a:r>
          </a:p>
        </p:txBody>
      </p:sp>
      <p:sp>
        <p:nvSpPr>
          <p:cNvPr name="TextBox 9" id="9"/>
          <p:cNvSpPr txBox="true"/>
          <p:nvPr/>
        </p:nvSpPr>
        <p:spPr>
          <a:xfrm rot="0">
            <a:off x="578530" y="1940811"/>
            <a:ext cx="107270" cy="4035717"/>
          </a:xfrm>
          <a:prstGeom prst="rect">
            <a:avLst/>
          </a:prstGeom>
        </p:spPr>
        <p:txBody>
          <a:bodyPr anchor="t" rtlCol="false" tIns="0" lIns="0" bIns="0" rIns="0">
            <a:spAutoFit/>
          </a:bodyPr>
          <a:lstStyle/>
          <a:p>
            <a:pPr algn="just">
              <a:lnSpc>
                <a:spcPts val="4688"/>
              </a:lnSpc>
            </a:pPr>
            <a:r>
              <a:rPr lang="en-US" sz="2332" spc="-4">
                <a:solidFill>
                  <a:srgbClr val="262626"/>
                </a:solidFill>
                <a:latin typeface="IBM Plex Sans Condensed"/>
                <a:ea typeface="IBM Plex Sans Condensed"/>
                <a:cs typeface="IBM Plex Sans Condensed"/>
                <a:sym typeface="IBM Plex Sans Condensed"/>
              </a:rPr>
              <a:t>• • • • • • •</a:t>
            </a:r>
          </a:p>
        </p:txBody>
      </p:sp>
      <p:sp>
        <p:nvSpPr>
          <p:cNvPr name="TextBox 10" id="10"/>
          <p:cNvSpPr txBox="true"/>
          <p:nvPr/>
        </p:nvSpPr>
        <p:spPr>
          <a:xfrm rot="0">
            <a:off x="1096060" y="1832858"/>
            <a:ext cx="10410140" cy="4260246"/>
          </a:xfrm>
          <a:prstGeom prst="rect">
            <a:avLst/>
          </a:prstGeom>
        </p:spPr>
        <p:txBody>
          <a:bodyPr anchor="t" rtlCol="false" tIns="0" lIns="0" bIns="0" rIns="0">
            <a:spAutoFit/>
          </a:bodyPr>
          <a:lstStyle/>
          <a:p>
            <a:pPr algn="l">
              <a:lnSpc>
                <a:spcPts val="4865"/>
              </a:lnSpc>
            </a:pPr>
            <a:r>
              <a:rPr lang="en-US" sz="2420" spc="-4">
                <a:solidFill>
                  <a:srgbClr val="262626"/>
                </a:solidFill>
                <a:latin typeface="IBM Plex Sans Condensed"/>
                <a:ea typeface="IBM Plex Sans Condensed"/>
                <a:cs typeface="IBM Plex Sans Condensed"/>
                <a:sym typeface="IBM Plex Sans Condensed"/>
              </a:rPr>
              <a:t>Replaces manual, paper-based safety processes with a unified digital system. Provides real-time hazard-zone monitoring and faster emergency alerts. Centralizes employee health, PPE compliance, and training records in one place. Reduces human error in incident reporting and safety documentation.</a:t>
            </a:r>
          </a:p>
          <a:p>
            <a:pPr algn="l">
              <a:lnSpc>
                <a:spcPts val="4865"/>
              </a:lnSpc>
            </a:pPr>
            <a:r>
              <a:rPr lang="en-US" sz="2420" spc="-4">
                <a:solidFill>
                  <a:srgbClr val="262626"/>
                </a:solidFill>
                <a:latin typeface="IBM Plex Sans Condensed"/>
                <a:ea typeface="IBM Plex Sans Condensed"/>
                <a:cs typeface="IBM Plex Sans Condensed"/>
                <a:sym typeface="IBM Plex Sans Condensed"/>
              </a:rPr>
              <a:t>Improves regulatory compliance and audit readiness.</a:t>
            </a:r>
          </a:p>
          <a:p>
            <a:pPr algn="l">
              <a:lnSpc>
                <a:spcPts val="4865"/>
              </a:lnSpc>
            </a:pPr>
            <a:r>
              <a:rPr lang="en-US" sz="2420" spc="-4">
                <a:solidFill>
                  <a:srgbClr val="262626"/>
                </a:solidFill>
                <a:latin typeface="IBM Plex Sans Condensed"/>
                <a:ea typeface="IBM Plex Sans Condensed"/>
                <a:cs typeface="IBM Plex Sans Condensed"/>
                <a:sym typeface="IBM Plex Sans Condensed"/>
              </a:rPr>
              <a:t>Modular OOP-based design makes the system easy to maintain and extend. Supports faster, more informed decision-making by supervisors and safety officers.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1697843" y="6508404"/>
            <a:ext cx="128711"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19</a:t>
            </a:r>
          </a:p>
        </p:txBody>
      </p:sp>
      <p:sp>
        <p:nvSpPr>
          <p:cNvPr name="TextBox 8" id="8"/>
          <p:cNvSpPr txBox="true"/>
          <p:nvPr/>
        </p:nvSpPr>
        <p:spPr>
          <a:xfrm rot="0">
            <a:off x="455400" y="1001039"/>
            <a:ext cx="2493235" cy="574643"/>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Future Scope</a:t>
            </a:r>
          </a:p>
        </p:txBody>
      </p:sp>
      <p:sp>
        <p:nvSpPr>
          <p:cNvPr name="TextBox 9" id="9"/>
          <p:cNvSpPr txBox="true"/>
          <p:nvPr/>
        </p:nvSpPr>
        <p:spPr>
          <a:xfrm rot="0">
            <a:off x="442705" y="1956324"/>
            <a:ext cx="103968" cy="3381517"/>
          </a:xfrm>
          <a:prstGeom prst="rect">
            <a:avLst/>
          </a:prstGeom>
        </p:spPr>
        <p:txBody>
          <a:bodyPr anchor="t" rtlCol="false" tIns="0" lIns="0" bIns="0" rIns="0">
            <a:spAutoFit/>
          </a:bodyPr>
          <a:lstStyle/>
          <a:p>
            <a:pPr algn="just">
              <a:lnSpc>
                <a:spcPts val="4544"/>
              </a:lnSpc>
            </a:pPr>
            <a:r>
              <a:rPr lang="en-US" sz="2260" spc="-4">
                <a:solidFill>
                  <a:srgbClr val="262626"/>
                </a:solidFill>
                <a:latin typeface="IBM Plex Sans Condensed"/>
                <a:ea typeface="IBM Plex Sans Condensed"/>
                <a:cs typeface="IBM Plex Sans Condensed"/>
                <a:sym typeface="IBM Plex Sans Condensed"/>
              </a:rPr>
              <a:t>• • • • • •</a:t>
            </a:r>
          </a:p>
        </p:txBody>
      </p:sp>
      <p:sp>
        <p:nvSpPr>
          <p:cNvPr name="TextBox 10" id="10"/>
          <p:cNvSpPr txBox="true"/>
          <p:nvPr/>
        </p:nvSpPr>
        <p:spPr>
          <a:xfrm rot="0">
            <a:off x="793196" y="1946799"/>
            <a:ext cx="10904647" cy="3391042"/>
          </a:xfrm>
          <a:prstGeom prst="rect">
            <a:avLst/>
          </a:prstGeom>
        </p:spPr>
        <p:txBody>
          <a:bodyPr anchor="t" rtlCol="false" tIns="0" lIns="0" bIns="0" rIns="0">
            <a:spAutoFit/>
          </a:bodyPr>
          <a:lstStyle/>
          <a:p>
            <a:pPr algn="l">
              <a:lnSpc>
                <a:spcPts val="4603"/>
              </a:lnSpc>
            </a:pPr>
            <a:r>
              <a:rPr lang="en-US" sz="2290" spc="-4">
                <a:solidFill>
                  <a:srgbClr val="262626"/>
                </a:solidFill>
                <a:latin typeface="IBM Plex Sans Condensed"/>
                <a:ea typeface="IBM Plex Sans Condensed"/>
                <a:cs typeface="IBM Plex Sans Condensed"/>
                <a:sym typeface="IBM Plex Sans Condensed"/>
              </a:rPr>
              <a:t>Integration with real-time IoT sensors for gas, temperature, and wearable health monitoring. Machine learning-based predictive analytics to anticipate hazards before they occur.</a:t>
            </a:r>
          </a:p>
          <a:p>
            <a:pPr algn="l">
              <a:lnSpc>
                <a:spcPts val="4603"/>
              </a:lnSpc>
            </a:pPr>
            <a:r>
              <a:rPr lang="en-US" sz="2290" spc="-4">
                <a:solidFill>
                  <a:srgbClr val="262626"/>
                </a:solidFill>
                <a:latin typeface="IBM Plex Sans Condensed"/>
                <a:ea typeface="IBM Plex Sans Condensed"/>
                <a:cs typeface="IBM Plex Sans Condensed"/>
                <a:sym typeface="IBM Plex Sans Condensed"/>
              </a:rPr>
              <a:t>Mobile application for supervisors and employees to receive alerts remotely.</a:t>
            </a:r>
          </a:p>
          <a:p>
            <a:pPr algn="l">
              <a:lnSpc>
                <a:spcPts val="4603"/>
              </a:lnSpc>
            </a:pPr>
            <a:r>
              <a:rPr lang="en-US" sz="2290" spc="-4">
                <a:solidFill>
                  <a:srgbClr val="262626"/>
                </a:solidFill>
                <a:latin typeface="IBM Plex Sans Condensed"/>
                <a:ea typeface="IBM Plex Sans Condensed"/>
                <a:cs typeface="IBM Plex Sans Condensed"/>
                <a:sym typeface="IBM Plex Sans Condensed"/>
              </a:rPr>
              <a:t>Cloud-based storage for centralized, multi-site safety data management.</a:t>
            </a:r>
          </a:p>
          <a:p>
            <a:pPr algn="l">
              <a:lnSpc>
                <a:spcPts val="4603"/>
              </a:lnSpc>
            </a:pPr>
            <a:r>
              <a:rPr lang="en-US" sz="2290" spc="-4">
                <a:solidFill>
                  <a:srgbClr val="262626"/>
                </a:solidFill>
                <a:latin typeface="IBM Plex Sans Condensed"/>
                <a:ea typeface="IBM Plex Sans Condensed"/>
                <a:cs typeface="IBM Plex Sans Condensed"/>
                <a:sym typeface="IBM Plex Sans Condensed"/>
              </a:rPr>
              <a:t>Dashboard-based visual analytics for hazard trends and compliance tracking.</a:t>
            </a:r>
          </a:p>
          <a:p>
            <a:pPr algn="l">
              <a:lnSpc>
                <a:spcPts val="4603"/>
              </a:lnSpc>
            </a:pPr>
            <a:r>
              <a:rPr lang="en-US" sz="2290" spc="-4">
                <a:solidFill>
                  <a:srgbClr val="262626"/>
                </a:solidFill>
                <a:latin typeface="IBM Plex Sans Condensed"/>
                <a:ea typeface="IBM Plex Sans Condensed"/>
                <a:cs typeface="IBM Plex Sans Condensed"/>
                <a:sym typeface="IBM Plex Sans Condensed"/>
              </a:rPr>
              <a:t>GPS / location-based tracking of employees in large industrial sites.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1697843" y="6508404"/>
            <a:ext cx="128711"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20</a:t>
            </a:r>
          </a:p>
        </p:txBody>
      </p:sp>
      <p:sp>
        <p:nvSpPr>
          <p:cNvPr name="TextBox 8" id="8"/>
          <p:cNvSpPr txBox="true"/>
          <p:nvPr/>
        </p:nvSpPr>
        <p:spPr>
          <a:xfrm rot="0">
            <a:off x="455400" y="1001039"/>
            <a:ext cx="2099634" cy="574643"/>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Conclusion</a:t>
            </a:r>
          </a:p>
        </p:txBody>
      </p:sp>
      <p:sp>
        <p:nvSpPr>
          <p:cNvPr name="TextBox 9" id="9"/>
          <p:cNvSpPr txBox="true"/>
          <p:nvPr/>
        </p:nvSpPr>
        <p:spPr>
          <a:xfrm rot="0">
            <a:off x="410556" y="1985258"/>
            <a:ext cx="89687" cy="317306"/>
          </a:xfrm>
          <a:prstGeom prst="rect">
            <a:avLst/>
          </a:prstGeom>
        </p:spPr>
        <p:txBody>
          <a:bodyPr anchor="t" rtlCol="false" tIns="0" lIns="0" bIns="0" rIns="0">
            <a:spAutoFit/>
          </a:bodyPr>
          <a:lstStyle/>
          <a:p>
            <a:pPr algn="l">
              <a:lnSpc>
                <a:spcPts val="2730"/>
              </a:lnSpc>
            </a:pPr>
            <a:r>
              <a:rPr lang="en-US" sz="1950" spc="-3">
                <a:solidFill>
                  <a:srgbClr val="262626"/>
                </a:solidFill>
                <a:latin typeface="IBM Plex Sans Condensed"/>
                <a:ea typeface="IBM Plex Sans Condensed"/>
                <a:cs typeface="IBM Plex Sans Condensed"/>
                <a:sym typeface="IBM Plex Sans Condensed"/>
              </a:rPr>
              <a:t>•</a:t>
            </a:r>
          </a:p>
        </p:txBody>
      </p:sp>
      <p:sp>
        <p:nvSpPr>
          <p:cNvPr name="TextBox 10" id="10"/>
          <p:cNvSpPr txBox="true"/>
          <p:nvPr/>
        </p:nvSpPr>
        <p:spPr>
          <a:xfrm rot="0">
            <a:off x="455400" y="2942948"/>
            <a:ext cx="89687" cy="317306"/>
          </a:xfrm>
          <a:prstGeom prst="rect">
            <a:avLst/>
          </a:prstGeom>
        </p:spPr>
        <p:txBody>
          <a:bodyPr anchor="t" rtlCol="false" tIns="0" lIns="0" bIns="0" rIns="0">
            <a:spAutoFit/>
          </a:bodyPr>
          <a:lstStyle/>
          <a:p>
            <a:pPr algn="l">
              <a:lnSpc>
                <a:spcPts val="2730"/>
              </a:lnSpc>
            </a:pPr>
            <a:r>
              <a:rPr lang="en-US" sz="1950" spc="-3">
                <a:solidFill>
                  <a:srgbClr val="262626"/>
                </a:solidFill>
                <a:latin typeface="IBM Plex Sans Condensed"/>
                <a:ea typeface="IBM Plex Sans Condensed"/>
                <a:cs typeface="IBM Plex Sans Condensed"/>
                <a:sym typeface="IBM Plex Sans Condensed"/>
              </a:rPr>
              <a:t>•</a:t>
            </a:r>
          </a:p>
        </p:txBody>
      </p:sp>
      <p:sp>
        <p:nvSpPr>
          <p:cNvPr name="TextBox 11" id="11"/>
          <p:cNvSpPr txBox="true"/>
          <p:nvPr/>
        </p:nvSpPr>
        <p:spPr>
          <a:xfrm rot="0">
            <a:off x="455400" y="3898430"/>
            <a:ext cx="89687" cy="317306"/>
          </a:xfrm>
          <a:prstGeom prst="rect">
            <a:avLst/>
          </a:prstGeom>
        </p:spPr>
        <p:txBody>
          <a:bodyPr anchor="t" rtlCol="false" tIns="0" lIns="0" bIns="0" rIns="0">
            <a:spAutoFit/>
          </a:bodyPr>
          <a:lstStyle/>
          <a:p>
            <a:pPr algn="l">
              <a:lnSpc>
                <a:spcPts val="2730"/>
              </a:lnSpc>
            </a:pPr>
            <a:r>
              <a:rPr lang="en-US" sz="1950" spc="-3">
                <a:solidFill>
                  <a:srgbClr val="262626"/>
                </a:solidFill>
                <a:latin typeface="IBM Plex Sans Condensed"/>
                <a:ea typeface="IBM Plex Sans Condensed"/>
                <a:cs typeface="IBM Plex Sans Condensed"/>
                <a:sym typeface="IBM Plex Sans Condensed"/>
              </a:rPr>
              <a:t>•</a:t>
            </a:r>
          </a:p>
        </p:txBody>
      </p:sp>
      <p:sp>
        <p:nvSpPr>
          <p:cNvPr name="TextBox 12" id="12"/>
          <p:cNvSpPr txBox="true"/>
          <p:nvPr/>
        </p:nvSpPr>
        <p:spPr>
          <a:xfrm rot="0">
            <a:off x="455400" y="4979294"/>
            <a:ext cx="89687" cy="317306"/>
          </a:xfrm>
          <a:prstGeom prst="rect">
            <a:avLst/>
          </a:prstGeom>
        </p:spPr>
        <p:txBody>
          <a:bodyPr anchor="t" rtlCol="false" tIns="0" lIns="0" bIns="0" rIns="0">
            <a:spAutoFit/>
          </a:bodyPr>
          <a:lstStyle/>
          <a:p>
            <a:pPr algn="l">
              <a:lnSpc>
                <a:spcPts val="2730"/>
              </a:lnSpc>
            </a:pPr>
            <a:r>
              <a:rPr lang="en-US" sz="1950" spc="-3">
                <a:solidFill>
                  <a:srgbClr val="262626"/>
                </a:solidFill>
                <a:latin typeface="IBM Plex Sans Condensed"/>
                <a:ea typeface="IBM Plex Sans Condensed"/>
                <a:cs typeface="IBM Plex Sans Condensed"/>
                <a:sym typeface="IBM Plex Sans Condensed"/>
              </a:rPr>
              <a:t>•</a:t>
            </a:r>
          </a:p>
        </p:txBody>
      </p:sp>
      <p:sp>
        <p:nvSpPr>
          <p:cNvPr name="TextBox 13" id="13"/>
          <p:cNvSpPr txBox="true"/>
          <p:nvPr/>
        </p:nvSpPr>
        <p:spPr>
          <a:xfrm rot="0">
            <a:off x="685800" y="1880483"/>
            <a:ext cx="11182683" cy="3018480"/>
          </a:xfrm>
          <a:prstGeom prst="rect">
            <a:avLst/>
          </a:prstGeom>
        </p:spPr>
        <p:txBody>
          <a:bodyPr anchor="t" rtlCol="false" tIns="0" lIns="0" bIns="0" rIns="0">
            <a:spAutoFit/>
          </a:bodyPr>
          <a:lstStyle/>
          <a:p>
            <a:pPr algn="l">
              <a:lnSpc>
                <a:spcPts val="3996"/>
              </a:lnSpc>
            </a:pPr>
            <a:r>
              <a:rPr lang="en-US" sz="2004" spc="-2">
                <a:solidFill>
                  <a:srgbClr val="262626"/>
                </a:solidFill>
                <a:latin typeface="IBM Plex Sans Condensed"/>
                <a:ea typeface="IBM Plex Sans Condensed"/>
                <a:cs typeface="IBM Plex Sans Condensed"/>
                <a:sym typeface="IBM Plex Sans Condensed"/>
              </a:rPr>
              <a:t>The proposed Industrial Employee Safety and Occupational Health Management System replaces manual, fragmented safety processes with a unified, object-oriented software solution.</a:t>
            </a:r>
          </a:p>
          <a:p>
            <a:pPr algn="l">
              <a:lnSpc>
                <a:spcPts val="3996"/>
              </a:lnSpc>
            </a:pPr>
            <a:r>
              <a:rPr lang="en-US" sz="2004" spc="-2">
                <a:solidFill>
                  <a:srgbClr val="262626"/>
                </a:solidFill>
                <a:latin typeface="IBM Plex Sans Condensed"/>
                <a:ea typeface="IBM Plex Sans Condensed"/>
                <a:cs typeface="IBM Plex Sans Condensed"/>
                <a:sym typeface="IBM Plex Sans Condensed"/>
              </a:rPr>
              <a:t>By integrating employee records, hazard monitoring, incident reporting, and PPE compliance into one system, organizations can respond faster to emergencies and reduce workplace accidents.</a:t>
            </a:r>
          </a:p>
          <a:p>
            <a:pPr algn="l">
              <a:lnSpc>
                <a:spcPts val="3996"/>
              </a:lnSpc>
            </a:pPr>
            <a:r>
              <a:rPr lang="en-US" sz="2004" spc="-2">
                <a:solidFill>
                  <a:srgbClr val="262626"/>
                </a:solidFill>
                <a:latin typeface="IBM Plex Sans Condensed"/>
                <a:ea typeface="IBM Plex Sans Condensed"/>
                <a:cs typeface="IBM Plex Sans Condensed"/>
                <a:sym typeface="IBM Plex Sans Condensed"/>
              </a:rPr>
              <a:t>The modular OOP-based design allows the system to be extended in future with IoT sensor integration and predictive analytics for proactive hazard prevention.</a:t>
            </a:r>
          </a:p>
          <a:p>
            <a:pPr algn="l">
              <a:lnSpc>
                <a:spcPts val="3996"/>
              </a:lnSpc>
            </a:pPr>
            <a:r>
              <a:rPr lang="en-US" sz="2004" spc="-2">
                <a:solidFill>
                  <a:srgbClr val="262626"/>
                </a:solidFill>
                <a:latin typeface="IBM Plex Sans Condensed"/>
                <a:ea typeface="IBM Plex Sans Condensed"/>
                <a:cs typeface="IBM Plex Sans Condensed"/>
                <a:sym typeface="IBM Plex Sans Condensed"/>
              </a:rPr>
              <a:t>Overall, the system contributes to a safer, more compliant, and more accountable industrial workplace.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20040" y="200873"/>
            <a:ext cx="3291488" cy="422996"/>
            <a:chOff x="0" y="0"/>
            <a:chExt cx="4388650" cy="563994"/>
          </a:xfrm>
        </p:grpSpPr>
        <p:sp>
          <p:nvSpPr>
            <p:cNvPr name="Freeform 3" id="3"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grpSp>
        <p:nvGrpSpPr>
          <p:cNvPr name="Group 4" id="4"/>
          <p:cNvGrpSpPr/>
          <p:nvPr/>
        </p:nvGrpSpPr>
        <p:grpSpPr>
          <a:xfrm rot="0">
            <a:off x="8576996" y="200873"/>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2"/>
              <a:stretch>
                <a:fillRect l="0" t="0" r="0" b="2"/>
              </a:stretch>
            </a:blipFill>
          </p:spPr>
        </p:sp>
      </p:grpSp>
      <p:sp>
        <p:nvSpPr>
          <p:cNvPr name="Freeform 6" id="6"/>
          <p:cNvSpPr/>
          <p:nvPr/>
        </p:nvSpPr>
        <p:spPr>
          <a:xfrm flipH="false" flipV="false" rot="0">
            <a:off x="365760" y="770944"/>
            <a:ext cx="11457356" cy="12954"/>
          </a:xfrm>
          <a:custGeom>
            <a:avLst/>
            <a:gdLst/>
            <a:ahLst/>
            <a:cxnLst/>
            <a:rect r="r" b="b" t="t" l="l"/>
            <a:pathLst>
              <a:path h="12954" w="11457356">
                <a:moveTo>
                  <a:pt x="0" y="0"/>
                </a:moveTo>
                <a:lnTo>
                  <a:pt x="11457356" y="0"/>
                </a:lnTo>
                <a:lnTo>
                  <a:pt x="11457356" y="12954"/>
                </a:lnTo>
                <a:lnTo>
                  <a:pt x="0" y="129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1697843" y="6508404"/>
            <a:ext cx="128711" cy="168602"/>
          </a:xfrm>
          <a:prstGeom prst="rect">
            <a:avLst/>
          </a:prstGeom>
        </p:spPr>
        <p:txBody>
          <a:bodyPr anchor="t" rtlCol="false" tIns="0" lIns="0" bIns="0" rIns="0">
            <a:spAutoFit/>
          </a:bodyPr>
          <a:lstStyle/>
          <a:p>
            <a:pPr algn="l">
              <a:lnSpc>
                <a:spcPts val="1400"/>
              </a:lnSpc>
            </a:pPr>
            <a:r>
              <a:rPr lang="en-US" sz="1000" spc="-2">
                <a:solidFill>
                  <a:srgbClr val="595959"/>
                </a:solidFill>
                <a:latin typeface="IBM Plex Sans Condensed"/>
                <a:ea typeface="IBM Plex Sans Condensed"/>
                <a:cs typeface="IBM Plex Sans Condensed"/>
                <a:sym typeface="IBM Plex Sans Condensed"/>
              </a:rPr>
              <a:t>21</a:t>
            </a:r>
          </a:p>
        </p:txBody>
      </p:sp>
      <p:sp>
        <p:nvSpPr>
          <p:cNvPr name="TextBox 8" id="8"/>
          <p:cNvSpPr txBox="true"/>
          <p:nvPr/>
        </p:nvSpPr>
        <p:spPr>
          <a:xfrm rot="0">
            <a:off x="455400" y="1478604"/>
            <a:ext cx="11108617" cy="942880"/>
          </a:xfrm>
          <a:prstGeom prst="rect">
            <a:avLst/>
          </a:prstGeom>
        </p:spPr>
        <p:txBody>
          <a:bodyPr anchor="t" rtlCol="false" tIns="0" lIns="0" bIns="0" rIns="0">
            <a:spAutoFit/>
          </a:bodyPr>
          <a:lstStyle/>
          <a:p>
            <a:pPr algn="l">
              <a:lnSpc>
                <a:spcPts val="4758"/>
              </a:lnSpc>
            </a:pPr>
            <a:r>
              <a:rPr lang="en-US" b="true" sz="3398" spc="-20">
                <a:solidFill>
                  <a:srgbClr val="C00000"/>
                </a:solidFill>
                <a:latin typeface="Montserrat Bold"/>
                <a:ea typeface="Montserrat Bold"/>
                <a:cs typeface="Montserrat Bold"/>
                <a:sym typeface="Montserrat Bold"/>
              </a:rPr>
              <a:t>References</a:t>
            </a:r>
          </a:p>
          <a:p>
            <a:pPr algn="l">
              <a:lnSpc>
                <a:spcPts val="2031"/>
              </a:lnSpc>
            </a:pPr>
            <a:r>
              <a:rPr lang="en-US" sz="1451" spc="-2">
                <a:solidFill>
                  <a:srgbClr val="262626"/>
                </a:solidFill>
                <a:latin typeface="IBM Plex Sans Condensed"/>
                <a:ea typeface="IBM Plex Sans Condensed"/>
                <a:cs typeface="IBM Plex Sans Condensed"/>
                <a:sym typeface="IBM Plex Sans Condensed"/>
              </a:rPr>
              <a:t>[1] R. Raman and A. Mitra, "IoT-Enhanced Workplace Safety for Real-Time Monitoring and Hazard Detection for Occupational Health," Proc. Int. </a:t>
            </a:r>
          </a:p>
        </p:txBody>
      </p:sp>
      <p:sp>
        <p:nvSpPr>
          <p:cNvPr name="TextBox 9" id="9"/>
          <p:cNvSpPr txBox="true"/>
          <p:nvPr/>
        </p:nvSpPr>
        <p:spPr>
          <a:xfrm rot="0">
            <a:off x="1100128" y="1945281"/>
            <a:ext cx="46996" cy="255013"/>
          </a:xfrm>
          <a:prstGeom prst="rect">
            <a:avLst/>
          </a:prstGeom>
        </p:spPr>
        <p:txBody>
          <a:bodyPr anchor="t" rtlCol="false" tIns="0" lIns="0" bIns="0" rIns="0">
            <a:spAutoFit/>
          </a:bodyPr>
          <a:lstStyle/>
          <a:p>
            <a:pPr algn="l">
              <a:lnSpc>
                <a:spcPts val="2031"/>
              </a:lnSpc>
            </a:pPr>
            <a:r>
              <a:rPr lang="en-US" sz="1451" spc="-2">
                <a:solidFill>
                  <a:srgbClr val="262626"/>
                </a:solidFill>
                <a:latin typeface="IBM Plex Sans Condensed"/>
                <a:ea typeface="IBM Plex Sans Condensed"/>
                <a:cs typeface="IBM Plex Sans Condensed"/>
                <a:sym typeface="IBM Plex Sans Condensed"/>
              </a:rPr>
              <a:t> </a:t>
            </a:r>
          </a:p>
        </p:txBody>
      </p:sp>
      <p:sp>
        <p:nvSpPr>
          <p:cNvPr name="TextBox 10" id="10"/>
          <p:cNvSpPr txBox="true"/>
          <p:nvPr/>
        </p:nvSpPr>
        <p:spPr>
          <a:xfrm rot="0">
            <a:off x="455400" y="2383384"/>
            <a:ext cx="5039001" cy="255013"/>
          </a:xfrm>
          <a:prstGeom prst="rect">
            <a:avLst/>
          </a:prstGeom>
        </p:spPr>
        <p:txBody>
          <a:bodyPr anchor="t" rtlCol="false" tIns="0" lIns="0" bIns="0" rIns="0">
            <a:spAutoFit/>
          </a:bodyPr>
          <a:lstStyle/>
          <a:p>
            <a:pPr algn="l">
              <a:lnSpc>
                <a:spcPts val="2031"/>
              </a:lnSpc>
            </a:pPr>
            <a:r>
              <a:rPr lang="en-US" sz="1451" spc="-2">
                <a:solidFill>
                  <a:srgbClr val="262626"/>
                </a:solidFill>
                <a:latin typeface="IBM Plex Sans Condensed"/>
                <a:ea typeface="IBM Plex Sans Condensed"/>
                <a:cs typeface="IBM Plex Sans Condensed"/>
                <a:sym typeface="IBM Plex Sans Condensed"/>
              </a:rPr>
              <a:t>Conf. AIfor Innovations in Healthcare Industries (ICAIIHI), 2023.</a:t>
            </a:r>
          </a:p>
        </p:txBody>
      </p:sp>
      <p:sp>
        <p:nvSpPr>
          <p:cNvPr name="TextBox 11" id="11"/>
          <p:cNvSpPr txBox="true"/>
          <p:nvPr/>
        </p:nvSpPr>
        <p:spPr>
          <a:xfrm rot="0">
            <a:off x="455400" y="2819371"/>
            <a:ext cx="11513763" cy="2566578"/>
          </a:xfrm>
          <a:prstGeom prst="rect">
            <a:avLst/>
          </a:prstGeom>
        </p:spPr>
        <p:txBody>
          <a:bodyPr anchor="t" rtlCol="false" tIns="0" lIns="0" bIns="0" rIns="0">
            <a:spAutoFit/>
          </a:bodyPr>
          <a:lstStyle/>
          <a:p>
            <a:pPr algn="l">
              <a:lnSpc>
                <a:spcPts val="2086"/>
              </a:lnSpc>
            </a:pPr>
            <a:r>
              <a:rPr lang="en-US" sz="1451" spc="-2">
                <a:solidFill>
                  <a:srgbClr val="262626"/>
                </a:solidFill>
                <a:latin typeface="IBM Plex Sans Condensed"/>
                <a:ea typeface="IBM Plex Sans Condensed"/>
                <a:cs typeface="IBM Plex Sans Condensed"/>
                <a:sym typeface="IBM Plex Sans Condensed"/>
              </a:rPr>
              <a:t>[2] T. Montanaro, I. Sergi, I. Stefanizzi, L. Landi, L. Di Donato, and L. Patrono, "IoT-Aware Architecture to Guarantee Safety of Maintenance Operators in Industrial Plants," Applied System Innovation, vol. 6, no. 2, Art. 46, 2023.</a:t>
            </a:r>
          </a:p>
          <a:p>
            <a:pPr algn="l">
              <a:lnSpc>
                <a:spcPts val="2086"/>
              </a:lnSpc>
              <a:spcBef>
                <a:spcPts val="1198"/>
              </a:spcBef>
            </a:pPr>
            <a:r>
              <a:rPr lang="en-US" sz="1451" spc="-2">
                <a:solidFill>
                  <a:srgbClr val="262626"/>
                </a:solidFill>
                <a:latin typeface="IBM Plex Sans Condensed"/>
                <a:ea typeface="IBM Plex Sans Condensed"/>
                <a:cs typeface="IBM Plex Sans Condensed"/>
                <a:sym typeface="IBM Plex Sans Condensed"/>
              </a:rPr>
              <a:t>[3] Y. Hong and J. Cho, "Enhancing Individual Worker Risk Awareness: A Location-Based Safety Check System for Real-Time Hazard Warnings in Work-Zones," Buildings, vol. 14, no. 1, Art. 90, 2024.</a:t>
            </a:r>
          </a:p>
          <a:p>
            <a:pPr algn="l">
              <a:lnSpc>
                <a:spcPts val="2086"/>
              </a:lnSpc>
              <a:spcBef>
                <a:spcPts val="1198"/>
              </a:spcBef>
            </a:pPr>
            <a:r>
              <a:rPr lang="en-US" sz="1451" spc="-2">
                <a:solidFill>
                  <a:srgbClr val="262626"/>
                </a:solidFill>
                <a:latin typeface="IBM Plex Sans Condensed"/>
                <a:ea typeface="IBM Plex Sans Condensed"/>
                <a:cs typeface="IBM Plex Sans Condensed"/>
                <a:sym typeface="IBM Plex Sans Condensed"/>
              </a:rPr>
              <a:t>[4] M. F. Ahmed, M. R. A. Khan, and M. N. Islam, "Wearable and IoT-Integrated Solutions for Electrical Hazard Prevention in Industrial Environments," JAIGS, vol. 8, no. 1, pp. 136–149, 2025.</a:t>
            </a:r>
          </a:p>
          <a:p>
            <a:pPr algn="l">
              <a:lnSpc>
                <a:spcPts val="2086"/>
              </a:lnSpc>
              <a:spcBef>
                <a:spcPts val="1198"/>
              </a:spcBef>
            </a:pPr>
            <a:r>
              <a:rPr lang="en-US" sz="1451" spc="-2">
                <a:solidFill>
                  <a:srgbClr val="262626"/>
                </a:solidFill>
                <a:latin typeface="IBM Plex Sans Condensed"/>
                <a:ea typeface="IBM Plex Sans Condensed"/>
                <a:cs typeface="IBM Plex Sans Condensed"/>
                <a:sym typeface="IBM Plex Sans Condensed"/>
              </a:rPr>
              <a:t>[5] S. Pradeep Kumar, G. R. Kanagachidambaresan, and A. Amalin Prince, "Industrial Safety Detecting Deviations and Monitoring Using IIoT 4.0," Proc. 5th Int. Conf. Frontiers in Computing and Systems (COMSYS 2024), LNNS, vol. 1488, Springer, pp. 161–175, 2026.</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F3864"/>
        </a:solidFill>
      </p:bgPr>
    </p:bg>
    <p:spTree>
      <p:nvGrpSpPr>
        <p:cNvPr id="1" name=""/>
        <p:cNvGrpSpPr/>
        <p:nvPr/>
      </p:nvGrpSpPr>
      <p:grpSpPr>
        <a:xfrm>
          <a:off x="0" y="0"/>
          <a:ext cx="0" cy="0"/>
          <a:chOff x="0" y="0"/>
          <a:chExt cx="0" cy="0"/>
        </a:xfrm>
      </p:grpSpPr>
      <p:sp>
        <p:nvSpPr>
          <p:cNvPr name="Freeform 2" id="2"/>
          <p:cNvSpPr/>
          <p:nvPr/>
        </p:nvSpPr>
        <p:spPr>
          <a:xfrm flipH="false" flipV="false" rot="0">
            <a:off x="319688" y="365408"/>
            <a:ext cx="3565789" cy="605876"/>
          </a:xfrm>
          <a:custGeom>
            <a:avLst/>
            <a:gdLst/>
            <a:ahLst/>
            <a:cxnLst/>
            <a:rect r="r" b="b" t="t" l="l"/>
            <a:pathLst>
              <a:path h="605876" w="3565789">
                <a:moveTo>
                  <a:pt x="0" y="0"/>
                </a:moveTo>
                <a:lnTo>
                  <a:pt x="3565788" y="0"/>
                </a:lnTo>
                <a:lnTo>
                  <a:pt x="3565788" y="605875"/>
                </a:lnTo>
                <a:lnTo>
                  <a:pt x="0" y="6058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02323" y="365408"/>
            <a:ext cx="3565808" cy="605876"/>
          </a:xfrm>
          <a:custGeom>
            <a:avLst/>
            <a:gdLst/>
            <a:ahLst/>
            <a:cxnLst/>
            <a:rect r="r" b="b" t="t" l="l"/>
            <a:pathLst>
              <a:path h="605876" w="3565808">
                <a:moveTo>
                  <a:pt x="0" y="0"/>
                </a:moveTo>
                <a:lnTo>
                  <a:pt x="3565808" y="0"/>
                </a:lnTo>
                <a:lnTo>
                  <a:pt x="3565808" y="605875"/>
                </a:lnTo>
                <a:lnTo>
                  <a:pt x="0" y="605875"/>
                </a:lnTo>
                <a:lnTo>
                  <a:pt x="0" y="0"/>
                </a:lnTo>
                <a:close/>
              </a:path>
            </a:pathLst>
          </a:custGeom>
          <a:blipFill>
            <a:blip r:embed="rId2">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457200" y="456848"/>
            <a:ext cx="3291488" cy="422996"/>
            <a:chOff x="0" y="0"/>
            <a:chExt cx="4388650" cy="563994"/>
          </a:xfrm>
        </p:grpSpPr>
        <p:sp>
          <p:nvSpPr>
            <p:cNvPr name="Freeform 5" id="5"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5"/>
              <a:stretch>
                <a:fillRect l="0" t="0" r="0" b="2"/>
              </a:stretch>
            </a:blipFill>
          </p:spPr>
        </p:sp>
      </p:grpSp>
      <p:grpSp>
        <p:nvGrpSpPr>
          <p:cNvPr name="Group 6" id="6"/>
          <p:cNvGrpSpPr/>
          <p:nvPr/>
        </p:nvGrpSpPr>
        <p:grpSpPr>
          <a:xfrm rot="0">
            <a:off x="8439836" y="456848"/>
            <a:ext cx="3291488" cy="422996"/>
            <a:chOff x="0" y="0"/>
            <a:chExt cx="4388650" cy="563994"/>
          </a:xfrm>
        </p:grpSpPr>
        <p:sp>
          <p:nvSpPr>
            <p:cNvPr name="Freeform 7" id="7" descr="/home/claude/proj/media/logo.jpeg"/>
            <p:cNvSpPr/>
            <p:nvPr/>
          </p:nvSpPr>
          <p:spPr>
            <a:xfrm flipH="false" flipV="false" rot="0">
              <a:off x="0" y="0"/>
              <a:ext cx="4388612" cy="564007"/>
            </a:xfrm>
            <a:custGeom>
              <a:avLst/>
              <a:gdLst/>
              <a:ahLst/>
              <a:cxnLst/>
              <a:rect r="r" b="b" t="t" l="l"/>
              <a:pathLst>
                <a:path h="564007" w="4388612">
                  <a:moveTo>
                    <a:pt x="0" y="0"/>
                  </a:moveTo>
                  <a:lnTo>
                    <a:pt x="4388612" y="0"/>
                  </a:lnTo>
                  <a:lnTo>
                    <a:pt x="4388612" y="564007"/>
                  </a:lnTo>
                  <a:lnTo>
                    <a:pt x="0" y="564007"/>
                  </a:lnTo>
                  <a:lnTo>
                    <a:pt x="0" y="0"/>
                  </a:lnTo>
                  <a:close/>
                </a:path>
              </a:pathLst>
            </a:custGeom>
            <a:blipFill>
              <a:blip r:embed="rId5"/>
              <a:stretch>
                <a:fillRect l="0" t="0" r="0" b="2"/>
              </a:stretch>
            </a:blipFill>
          </p:spPr>
        </p:sp>
      </p:grpSp>
      <p:sp>
        <p:nvSpPr>
          <p:cNvPr name="TextBox 8" id="8"/>
          <p:cNvSpPr txBox="true"/>
          <p:nvPr/>
        </p:nvSpPr>
        <p:spPr>
          <a:xfrm rot="0">
            <a:off x="3922919" y="2919889"/>
            <a:ext cx="4426115" cy="941946"/>
          </a:xfrm>
          <a:prstGeom prst="rect">
            <a:avLst/>
          </a:prstGeom>
        </p:spPr>
        <p:txBody>
          <a:bodyPr anchor="t" rtlCol="false" tIns="0" lIns="0" bIns="0" rIns="0">
            <a:spAutoFit/>
          </a:bodyPr>
          <a:lstStyle/>
          <a:p>
            <a:pPr algn="l">
              <a:lnSpc>
                <a:spcPts val="7841"/>
              </a:lnSpc>
            </a:pPr>
            <a:r>
              <a:rPr lang="en-US" b="true" sz="5601" spc="-33">
                <a:solidFill>
                  <a:srgbClr val="FFFFFF"/>
                </a:solidFill>
                <a:latin typeface="Montserrat Bold"/>
                <a:ea typeface="Montserrat Bold"/>
                <a:cs typeface="Montserrat Bold"/>
                <a:sym typeface="Montserrat Bold"/>
              </a:rPr>
              <a:t>THANK YOU</a:t>
            </a:r>
          </a:p>
        </p:txBody>
      </p:sp>
      <p:sp>
        <p:nvSpPr>
          <p:cNvPr name="TextBox 9" id="9"/>
          <p:cNvSpPr txBox="true"/>
          <p:nvPr/>
        </p:nvSpPr>
        <p:spPr>
          <a:xfrm rot="0">
            <a:off x="3980336" y="4067394"/>
            <a:ext cx="58293" cy="307134"/>
          </a:xfrm>
          <a:prstGeom prst="rect">
            <a:avLst/>
          </a:prstGeom>
        </p:spPr>
        <p:txBody>
          <a:bodyPr anchor="t" rtlCol="false" tIns="0" lIns="0" bIns="0" rIns="0">
            <a:spAutoFit/>
          </a:bodyPr>
          <a:lstStyle/>
          <a:p>
            <a:pPr algn="l">
              <a:lnSpc>
                <a:spcPts val="2520"/>
              </a:lnSpc>
            </a:pPr>
            <a:r>
              <a:rPr lang="en-US" sz="1800" spc="-3">
                <a:solidFill>
                  <a:srgbClr val="D9D9D9"/>
                </a:solidFill>
                <a:latin typeface="IBM Plex Sans Condensed"/>
                <a:ea typeface="IBM Plex Sans Condensed"/>
                <a:cs typeface="IBM Plex Sans Condensed"/>
                <a:sym typeface="IBM Plex Sans Condensed"/>
              </a:rPr>
              <a:t> </a:t>
            </a:r>
          </a:p>
        </p:txBody>
      </p:sp>
      <p:sp>
        <p:nvSpPr>
          <p:cNvPr name="TextBox 10" id="10"/>
          <p:cNvSpPr txBox="true"/>
          <p:nvPr/>
        </p:nvSpPr>
        <p:spPr>
          <a:xfrm rot="0">
            <a:off x="2123646" y="4067394"/>
            <a:ext cx="8089201" cy="307134"/>
          </a:xfrm>
          <a:prstGeom prst="rect">
            <a:avLst/>
          </a:prstGeom>
        </p:spPr>
        <p:txBody>
          <a:bodyPr anchor="t" rtlCol="false" tIns="0" lIns="0" bIns="0" rIns="0">
            <a:spAutoFit/>
          </a:bodyPr>
          <a:lstStyle/>
          <a:p>
            <a:pPr algn="l">
              <a:lnSpc>
                <a:spcPts val="2520"/>
              </a:lnSpc>
            </a:pPr>
            <a:r>
              <a:rPr lang="en-US" sz="1800" spc="-3">
                <a:solidFill>
                  <a:srgbClr val="D9D9D9"/>
                </a:solidFill>
                <a:latin typeface="IBM Plex Sans Condensed"/>
                <a:ea typeface="IBM Plex Sans Condensed"/>
                <a:cs typeface="IBM Plex Sans Condensed"/>
                <a:sym typeface="IBM Plex Sans Condensed"/>
              </a:rPr>
              <a:t>Industrial EmployeeSafetyandOccupationalHealthManagementSystem — Team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DAHUZY2RiUw</dc:identifier>
  <dcterms:modified xsi:type="dcterms:W3CDTF">2011-08-01T06:04:30Z</dcterms:modified>
  <cp:revision>1</cp:revision>
  <dc:title>Team8_Industrial_Employee_Safetycanva.pdf</dc:title>
</cp:coreProperties>
</file>